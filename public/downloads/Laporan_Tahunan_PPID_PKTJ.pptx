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jp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 id="268" r:id="rId19"/>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 Id="rId16" Type="http://schemas.openxmlformats.org/officeDocument/2006/relationships/slide" Target="slides/slide10.xml"/><Relationship Id="rId17" Type="http://schemas.openxmlformats.org/officeDocument/2006/relationships/slide" Target="slides/slide11.xml"/><Relationship Id="rId18" Type="http://schemas.openxmlformats.org/officeDocument/2006/relationships/slide" Target="slides/slide12.xml"/><Relationship Id="rId19" Type="http://schemas.openxmlformats.org/officeDocument/2006/relationships/slide" Target="slides/slide13.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2.png"/><Relationship Id="rId4" Type="http://schemas.openxmlformats.org/officeDocument/2006/relationships/image" Target="../media/image3.png"/><Relationship Id="rId5" Type="http://schemas.openxmlformats.org/officeDocument/2006/relationships/image" Target="../media/image4.jp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2.png"/><Relationship Id="rId4" Type="http://schemas.openxmlformats.org/officeDocument/2006/relationships/image" Target="../media/image3.png"/><Relationship Id="rId5" Type="http://schemas.openxmlformats.org/officeDocument/2006/relationships/image" Target="../media/image5.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2.png"/><Relationship Id="rId4" Type="http://schemas.openxmlformats.org/officeDocument/2006/relationships/image" Target="../media/image3.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2.png"/><Relationship Id="rId4" Type="http://schemas.openxmlformats.org/officeDocument/2006/relationships/image" Target="../media/image3.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2.png"/><Relationship Id="rId4" Type="http://schemas.openxmlformats.org/officeDocument/2006/relationships/image" Target="../media/image3.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2.png"/><Relationship Id="rId4" Type="http://schemas.openxmlformats.org/officeDocument/2006/relationships/image" Target="../media/image3.png"/><Relationship Id="rId5" Type="http://schemas.openxmlformats.org/officeDocument/2006/relationships/image" Target="../media/image6.jpg"/><Relationship Id="rId6" Type="http://schemas.openxmlformats.org/officeDocument/2006/relationships/image" Target="../media/image7.jp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2.png"/><Relationship Id="rId4" Type="http://schemas.openxmlformats.org/officeDocument/2006/relationships/image" Target="../media/image3.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2.png"/><Relationship Id="rId4" Type="http://schemas.openxmlformats.org/officeDocument/2006/relationships/image" Target="../media/image3.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2.png"/><Relationship Id="rId4" Type="http://schemas.openxmlformats.org/officeDocument/2006/relationships/image" Target="../media/image3.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2.png"/><Relationship Id="rId4" Type="http://schemas.openxmlformats.org/officeDocument/2006/relationships/image" Target="../media/image3.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2.png"/><Relationship Id="rId4" Type="http://schemas.openxmlformats.org/officeDocument/2006/relationships/image" Target="../media/image3.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2.png"/><Relationship Id="rId4" Type="http://schemas.openxmlformats.org/officeDocument/2006/relationships/image" Target="../media/image3.pn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2.png"/><Relationship Id="rId4" Type="http://schemas.openxmlformats.org/officeDocument/2006/relationships/image" Target="../media/image3.png"/></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B254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37160"/>
          </a:xfrm>
          <a:prstGeom prst="rect">
            <a:avLst/>
          </a:prstGeom>
          <a:solidFill>
            <a:srgbClr val="FFB70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media_1789460385233.png"/>
          <p:cNvPicPr>
            <a:picLocks noChangeAspect="1"/>
          </p:cNvPicPr>
          <p:nvPr/>
        </p:nvPicPr>
        <p:blipFill>
          <a:blip r:embed="rId2"/>
          <a:stretch>
            <a:fillRect/>
          </a:stretch>
        </p:blipFill>
        <p:spPr>
          <a:xfrm>
            <a:off x="731520" y="457200"/>
            <a:ext cx="872252" cy="1005840"/>
          </a:xfrm>
          <a:prstGeom prst="rect">
            <a:avLst/>
          </a:prstGeom>
        </p:spPr>
      </p:pic>
      <p:pic>
        <p:nvPicPr>
          <p:cNvPr id="5" name="Picture 4" descr="media_1789460385231.png"/>
          <p:cNvPicPr>
            <a:picLocks noChangeAspect="1"/>
          </p:cNvPicPr>
          <p:nvPr/>
        </p:nvPicPr>
        <p:blipFill>
          <a:blip r:embed="rId3"/>
          <a:stretch>
            <a:fillRect/>
          </a:stretch>
        </p:blipFill>
        <p:spPr>
          <a:xfrm>
            <a:off x="2011680" y="594360"/>
            <a:ext cx="1098353" cy="731520"/>
          </a:xfrm>
          <a:prstGeom prst="rect">
            <a:avLst/>
          </a:prstGeom>
        </p:spPr>
      </p:pic>
      <p:pic>
        <p:nvPicPr>
          <p:cNvPr id="6" name="Picture 5" descr="media_1789460385272.png"/>
          <p:cNvPicPr>
            <a:picLocks noChangeAspect="1"/>
          </p:cNvPicPr>
          <p:nvPr/>
        </p:nvPicPr>
        <p:blipFill>
          <a:blip r:embed="rId4"/>
          <a:stretch>
            <a:fillRect/>
          </a:stretch>
        </p:blipFill>
        <p:spPr>
          <a:xfrm>
            <a:off x="3566160" y="457200"/>
            <a:ext cx="1004858" cy="1005840"/>
          </a:xfrm>
          <a:prstGeom prst="rect">
            <a:avLst/>
          </a:prstGeom>
        </p:spPr>
      </p:pic>
      <p:sp>
        <p:nvSpPr>
          <p:cNvPr id="7" name="Rounded Rectangle 6"/>
          <p:cNvSpPr/>
          <p:nvPr/>
        </p:nvSpPr>
        <p:spPr>
          <a:xfrm>
            <a:off x="6766560" y="1188720"/>
            <a:ext cx="4754880" cy="4480560"/>
          </a:xfrm>
          <a:prstGeom prst="roundRect">
            <a:avLst/>
          </a:prstGeom>
          <a:solidFill>
            <a:srgbClr val="004A99"/>
          </a:solidFill>
          <a:ln w="38100">
            <a:solidFill>
              <a:srgbClr val="FFB703"/>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8" name="Picture 7" descr="media_1789460385367.jpg"/>
          <p:cNvPicPr>
            <a:picLocks noChangeAspect="1"/>
          </p:cNvPicPr>
          <p:nvPr/>
        </p:nvPicPr>
        <p:blipFill>
          <a:blip r:embed="rId5"/>
          <a:stretch>
            <a:fillRect/>
          </a:stretch>
        </p:blipFill>
        <p:spPr>
          <a:xfrm>
            <a:off x="6858000" y="1280160"/>
            <a:ext cx="4572000" cy="4297680"/>
          </a:xfrm>
          <a:prstGeom prst="rect">
            <a:avLst/>
          </a:prstGeom>
        </p:spPr>
      </p:pic>
      <p:sp>
        <p:nvSpPr>
          <p:cNvPr id="9" name="TextBox 8"/>
          <p:cNvSpPr txBox="1"/>
          <p:nvPr/>
        </p:nvSpPr>
        <p:spPr>
          <a:xfrm>
            <a:off x="731520" y="1920240"/>
            <a:ext cx="5760720" cy="4114800"/>
          </a:xfrm>
          <a:prstGeom prst="rect">
            <a:avLst/>
          </a:prstGeom>
          <a:noFill/>
        </p:spPr>
        <p:txBody>
          <a:bodyPr wrap="square">
            <a:spAutoFit/>
          </a:bodyPr>
          <a:lstStyle/>
          <a:p>
            <a:pPr>
              <a:defRPr sz="1100" b="1">
                <a:solidFill>
                  <a:srgbClr val="FFB703"/>
                </a:solidFill>
                <a:latin typeface="Segoe UI"/>
              </a:defRPr>
            </a:pPr>
            <a:r>
              <a:t>KEMENTERIAN PERHUBUNGAN REPUBLIK INDONESIA</a:t>
            </a:r>
            <a:br/>
            <a:r>
              <a:t>BADAN PENGEMBANGAN SUMBER DAYA MANUSIA PERHUBUNGAN</a:t>
            </a:r>
          </a:p>
          <a:p>
            <a:pPr>
              <a:spcBef>
                <a:spcPts val="1400"/>
              </a:spcBef>
              <a:defRPr sz="3600" b="1">
                <a:solidFill>
                  <a:srgbClr val="FFFFFF"/>
                </a:solidFill>
                <a:latin typeface="Segoe UI"/>
              </a:defRPr>
            </a:pPr>
            <a:r>
              <a:t>LAPORAN TAHUNAN</a:t>
            </a:r>
            <a:br/>
            <a:r>
              <a:t>PPID PELAKSANA</a:t>
            </a:r>
          </a:p>
          <a:p>
            <a:pPr>
              <a:spcBef>
                <a:spcPts val="800"/>
              </a:spcBef>
              <a:defRPr sz="1500" b="1">
                <a:solidFill>
                  <a:srgbClr val="0284C7"/>
                </a:solidFill>
                <a:latin typeface="Segoe UI"/>
              </a:defRPr>
            </a:pPr>
            <a:r>
              <a:t>UPT POLITEKNIK KESELAMATAN TRANSPORTASI JALAN (PKTJ) TEGAL</a:t>
            </a:r>
          </a:p>
          <a:p>
            <a:pPr>
              <a:spcBef>
                <a:spcPts val="1200"/>
              </a:spcBef>
              <a:defRPr sz="1150">
                <a:solidFill>
                  <a:srgbClr val="CBD5E1"/>
                </a:solidFill>
                <a:latin typeface="Segoe UI"/>
              </a:defRPr>
            </a:pPr>
            <a:r>
              <a:t>Penyelenggaraan Keterbukaan Informasi Publik, Transparansi Tata Kelola Pendidikan Vokasi Perhubungan, dan Pemenuhan Hak Informasi Masyarakat Menuju Predikat Informatif.</a:t>
            </a:r>
          </a:p>
        </p:txBody>
      </p:sp>
      <p:sp>
        <p:nvSpPr>
          <p:cNvPr id="10" name="Rounded Rectangle 9"/>
          <p:cNvSpPr/>
          <p:nvPr/>
        </p:nvSpPr>
        <p:spPr>
          <a:xfrm>
            <a:off x="731520" y="5669280"/>
            <a:ext cx="4389120" cy="685800"/>
          </a:xfrm>
          <a:prstGeom prst="roundRect">
            <a:avLst/>
          </a:prstGeom>
          <a:solidFill>
            <a:srgbClr val="FFB70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600" b="1">
                <a:solidFill>
                  <a:srgbClr val="0B2545"/>
                </a:solidFill>
                <a:latin typeface="Segoe UI"/>
              </a:defRPr>
            </a:pPr>
            <a:r>
              <a:t>TAHUN ANGGARAN 2025 / 2026</a:t>
            </a:r>
          </a:p>
        </p:txBody>
      </p:sp>
      <p:sp>
        <p:nvSpPr>
          <p:cNvPr id="11" name="Rectangle 10"/>
          <p:cNvSpPr/>
          <p:nvPr/>
        </p:nvSpPr>
        <p:spPr>
          <a:xfrm>
            <a:off x="0" y="6537960"/>
            <a:ext cx="12191695" cy="320040"/>
          </a:xfrm>
          <a:prstGeom prst="rect">
            <a:avLst/>
          </a:prstGeom>
          <a:solidFill>
            <a:srgbClr val="004A9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000">
                <a:solidFill>
                  <a:srgbClr val="FFFFFF"/>
                </a:solidFill>
              </a:defRPr>
            </a:pPr>
            <a:r>
              <a:t>Portal Resmi: https://ppid.pktj.ac.id | Email: ppid@pktj.ac.id | Meja Layanan: Kampus Margadana &amp; Kampus Slerok Kota Tegal</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731520" y="365760"/>
            <a:ext cx="8686800" cy="1005840"/>
          </a:xfrm>
          <a:prstGeom prst="rect">
            <a:avLst/>
          </a:prstGeom>
          <a:noFill/>
        </p:spPr>
        <p:txBody>
          <a:bodyPr wrap="square" lIns="0" tIns="0" rIns="0" bIns="0">
            <a:spAutoFit/>
          </a:bodyPr>
          <a:lstStyle/>
          <a:p>
            <a:pPr>
              <a:defRPr sz="1000" b="1">
                <a:solidFill>
                  <a:srgbClr val="004A99"/>
                </a:solidFill>
                <a:latin typeface="Segoe UI"/>
              </a:defRPr>
            </a:pPr>
            <a:r>
              <a:t>PPID PELAKSANA UPT PKTJ TEGAL</a:t>
            </a:r>
          </a:p>
          <a:p>
            <a:pPr>
              <a:defRPr sz="2200" b="1">
                <a:solidFill>
                  <a:srgbClr val="0B2545"/>
                </a:solidFill>
                <a:latin typeface="Segoe UI"/>
              </a:defRPr>
            </a:pPr>
            <a:r>
              <a:t>KATA PENGANTAR DIREKTUR SELAKU ATASAN PPID</a:t>
            </a:r>
          </a:p>
        </p:txBody>
      </p:sp>
      <p:pic>
        <p:nvPicPr>
          <p:cNvPr id="3" name="Picture 2" descr="media_1789460385233.png"/>
          <p:cNvPicPr>
            <a:picLocks noChangeAspect="1"/>
          </p:cNvPicPr>
          <p:nvPr/>
        </p:nvPicPr>
        <p:blipFill>
          <a:blip r:embed="rId2"/>
          <a:stretch>
            <a:fillRect/>
          </a:stretch>
        </p:blipFill>
        <p:spPr>
          <a:xfrm>
            <a:off x="9601200" y="320040"/>
            <a:ext cx="594717" cy="685800"/>
          </a:xfrm>
          <a:prstGeom prst="rect">
            <a:avLst/>
          </a:prstGeom>
        </p:spPr>
      </p:pic>
      <p:pic>
        <p:nvPicPr>
          <p:cNvPr id="4" name="Picture 3" descr="media_1789460385231.png"/>
          <p:cNvPicPr>
            <a:picLocks noChangeAspect="1"/>
          </p:cNvPicPr>
          <p:nvPr/>
        </p:nvPicPr>
        <p:blipFill>
          <a:blip r:embed="rId3"/>
          <a:stretch>
            <a:fillRect/>
          </a:stretch>
        </p:blipFill>
        <p:spPr>
          <a:xfrm>
            <a:off x="10424160" y="411480"/>
            <a:ext cx="755117" cy="502920"/>
          </a:xfrm>
          <a:prstGeom prst="rect">
            <a:avLst/>
          </a:prstGeom>
        </p:spPr>
      </p:pic>
      <p:pic>
        <p:nvPicPr>
          <p:cNvPr id="5" name="Picture 4" descr="media_1789460385272.png"/>
          <p:cNvPicPr>
            <a:picLocks noChangeAspect="1"/>
          </p:cNvPicPr>
          <p:nvPr/>
        </p:nvPicPr>
        <p:blipFill>
          <a:blip r:embed="rId4"/>
          <a:stretch>
            <a:fillRect/>
          </a:stretch>
        </p:blipFill>
        <p:spPr>
          <a:xfrm>
            <a:off x="11247120" y="320040"/>
            <a:ext cx="685130" cy="685800"/>
          </a:xfrm>
          <a:prstGeom prst="rect">
            <a:avLst/>
          </a:prstGeom>
        </p:spPr>
      </p:pic>
      <p:sp>
        <p:nvSpPr>
          <p:cNvPr id="6" name="Rectangle 5"/>
          <p:cNvSpPr/>
          <p:nvPr/>
        </p:nvSpPr>
        <p:spPr>
          <a:xfrm>
            <a:off x="731520" y="1325880"/>
            <a:ext cx="10728655" cy="36576"/>
          </a:xfrm>
          <a:prstGeom prst="rect">
            <a:avLst/>
          </a:prstGeom>
          <a:solidFill>
            <a:srgbClr val="0284C7"/>
          </a:solidFill>
          <a:ln>
            <a:solidFill>
              <a:srgbClr val="0284C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731520" y="1554480"/>
            <a:ext cx="3291840" cy="4846320"/>
          </a:xfrm>
          <a:prstGeom prst="roundRect">
            <a:avLst/>
          </a:prstGeom>
          <a:solidFill>
            <a:srgbClr val="0B2545"/>
          </a:solidFill>
          <a:ln w="19050">
            <a:solidFill>
              <a:srgbClr val="FFB703"/>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8" name="Picture 7" descr="Bambang Istiyanto.png"/>
          <p:cNvPicPr>
            <a:picLocks noChangeAspect="1"/>
          </p:cNvPicPr>
          <p:nvPr/>
        </p:nvPicPr>
        <p:blipFill>
          <a:blip r:embed="rId5"/>
          <a:stretch>
            <a:fillRect/>
          </a:stretch>
        </p:blipFill>
        <p:spPr>
          <a:xfrm>
            <a:off x="1234440" y="1737360"/>
            <a:ext cx="2286000" cy="2834640"/>
          </a:xfrm>
          <a:prstGeom prst="rect">
            <a:avLst/>
          </a:prstGeom>
        </p:spPr>
      </p:pic>
      <p:sp>
        <p:nvSpPr>
          <p:cNvPr id="9" name="TextBox 8"/>
          <p:cNvSpPr txBox="1"/>
          <p:nvPr/>
        </p:nvSpPr>
        <p:spPr>
          <a:xfrm>
            <a:off x="822960" y="4663440"/>
            <a:ext cx="3108960" cy="1554480"/>
          </a:xfrm>
          <a:prstGeom prst="rect">
            <a:avLst/>
          </a:prstGeom>
          <a:noFill/>
        </p:spPr>
        <p:txBody>
          <a:bodyPr wrap="square" lIns="0" tIns="0">
            <a:spAutoFit/>
          </a:bodyPr>
          <a:lstStyle/>
          <a:p>
            <a:pPr algn="ctr">
              <a:defRPr sz="1300" b="1">
                <a:solidFill>
                  <a:srgbClr val="FFB703"/>
                </a:solidFill>
                <a:latin typeface="Segoe UI"/>
              </a:defRPr>
            </a:pPr>
            <a:r>
              <a:t>BAMBANG ISTIYANTO, S.Si.T., M.T.</a:t>
            </a:r>
          </a:p>
          <a:p>
            <a:pPr algn="ctr">
              <a:defRPr sz="1050">
                <a:solidFill>
                  <a:srgbClr val="FFFFFF"/>
                </a:solidFill>
                <a:latin typeface="Segoe UI"/>
              </a:defRPr>
            </a:pPr>
            <a:r>
              <a:t>Direktur PKTJ Tegal</a:t>
            </a:r>
            <a:br/>
            <a:r>
              <a:t>Selaku Atasan PPID Pelaksana UPT</a:t>
            </a:r>
          </a:p>
        </p:txBody>
      </p:sp>
      <p:sp>
        <p:nvSpPr>
          <p:cNvPr id="10" name="Rounded Rectangle 9"/>
          <p:cNvSpPr/>
          <p:nvPr/>
        </p:nvSpPr>
        <p:spPr>
          <a:xfrm>
            <a:off x="4297680" y="1554480"/>
            <a:ext cx="7132320" cy="4846320"/>
          </a:xfrm>
          <a:prstGeom prst="roundRect">
            <a:avLst/>
          </a:prstGeom>
          <a:solidFill>
            <a:srgbClr val="FFFFFF"/>
          </a:solidFill>
          <a:ln w="1905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4572000" y="1737360"/>
            <a:ext cx="6583680" cy="4480560"/>
          </a:xfrm>
          <a:prstGeom prst="rect">
            <a:avLst/>
          </a:prstGeom>
          <a:noFill/>
        </p:spPr>
        <p:txBody>
          <a:bodyPr wrap="square">
            <a:spAutoFit/>
          </a:bodyPr>
          <a:lstStyle/>
          <a:p>
            <a:pPr>
              <a:spcAft>
                <a:spcPts val="800"/>
              </a:spcAft>
              <a:defRPr sz="1150" b="1">
                <a:solidFill>
                  <a:srgbClr val="0B2545"/>
                </a:solidFill>
                <a:latin typeface="Segoe UI"/>
              </a:defRPr>
            </a:pPr>
            <a:r>
              <a:t>Puji syukur senantiasa kita panjatkan ke hadirat Tuhan Yang Maha Esa atas limpahan rahmat dan karunia-Nya, sehingga Laporan Tahunan Pelaksanaan Tugas Pejabat Pengelola Informasi dan Dokumentasi (PPID) Pelaksana UPT Politeknik Keselamatan Transportasi Jalan (PKTJ) Tegal ini dapat tersusun dengan baik dan transparan.</a:t>
            </a:r>
          </a:p>
          <a:p>
            <a:pPr>
              <a:spcAft>
                <a:spcPts val="800"/>
              </a:spcAft>
              <a:defRPr sz="1050" b="0">
                <a:solidFill>
                  <a:srgbClr val="1E293B"/>
                </a:solidFill>
                <a:latin typeface="Segoe UI"/>
              </a:defRPr>
            </a:pPr>
            <a:r>
              <a:t>Sebagai Perguruan Tinggi Kedinasan Vokasi unggulan di bawah naungan Badan Pengembangan Sumber Daya Manusia Perhubungan (BPSDMP), PKTJ Tegal memegang komitmen teguh dalam menegakkan tata kelola institusi yang bersih, transparan, dan akuntabel (Good Institutional Governance). Keterbukaan informasi bukan sekadar kewajiban regulasi, melainkan instrumen fundamental dalam membangun kepercayaan masyarakat, orang tua taruna, dan seluruh pemangku kepentingan transportasi nasional.</a:t>
            </a:r>
          </a:p>
          <a:p>
            <a:pPr>
              <a:spcAft>
                <a:spcPts val="800"/>
              </a:spcAft>
              <a:defRPr sz="1050" b="0">
                <a:solidFill>
                  <a:srgbClr val="1E293B"/>
                </a:solidFill>
                <a:latin typeface="Segoe UI"/>
              </a:defRPr>
            </a:pPr>
            <a:r>
              <a:t>Sepanjang periode pelaporan, PPID Pelaksana PKTJ Tegal terus berinovasi mengoptimalkan kanal layanan, baik melalui pemutakhiran mandiri pada portal digital https://ppid.pktj.ac.id maupun layanan tatap muka di Meja Layanan Informasi Kampus Margadana. Hal ini tercermin dari lonjakan capaian AKIP 2025 sebesar 89,0 (Predikat Menuju Informatif), menempatkan PKTJ pada peringkat ke-3 nasional kategori Menuju Informatif se-Kemenhub.</a:t>
            </a:r>
          </a:p>
          <a:p>
            <a:pPr>
              <a:spcAft>
                <a:spcPts val="800"/>
              </a:spcAft>
              <a:defRPr sz="1050" b="0">
                <a:solidFill>
                  <a:srgbClr val="1E293B"/>
                </a:solidFill>
                <a:latin typeface="Segoe UI"/>
              </a:defRPr>
            </a:pPr>
            <a:r>
              <a:t>Kami menyampaikan apresiasi setinggi-tingginya kepada seluruh jajaran PPID, sivitas akademika PKTJ, dan masyarakat yang telah berpartisipasi aktif. Semoga laporan ini menjadi pijakan kokoh bagi PKTJ dalam meraih predikat tertinggi 'INFORMATIF' pada periode berikutnya.</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731520" y="365760"/>
            <a:ext cx="8686800" cy="1005840"/>
          </a:xfrm>
          <a:prstGeom prst="rect">
            <a:avLst/>
          </a:prstGeom>
          <a:noFill/>
        </p:spPr>
        <p:txBody>
          <a:bodyPr wrap="square" lIns="0" tIns="0" rIns="0" bIns="0">
            <a:spAutoFit/>
          </a:bodyPr>
          <a:lstStyle/>
          <a:p>
            <a:pPr>
              <a:defRPr sz="1000" b="1">
                <a:solidFill>
                  <a:srgbClr val="004A99"/>
                </a:solidFill>
                <a:latin typeface="Segoe UI"/>
              </a:defRPr>
            </a:pPr>
            <a:r>
              <a:t>PPID PELAKSANA UPT PKTJ TEGAL</a:t>
            </a:r>
          </a:p>
          <a:p>
            <a:pPr>
              <a:defRPr sz="2200" b="1">
                <a:solidFill>
                  <a:srgbClr val="0B2545"/>
                </a:solidFill>
                <a:latin typeface="Segoe UI"/>
              </a:defRPr>
            </a:pPr>
            <a:r>
              <a:t>LANDASAN HUKUM &amp; REGULASI KETERBUKAAN INFORMASI</a:t>
            </a:r>
          </a:p>
        </p:txBody>
      </p:sp>
      <p:pic>
        <p:nvPicPr>
          <p:cNvPr id="3" name="Picture 2" descr="media_1789460385233.png"/>
          <p:cNvPicPr>
            <a:picLocks noChangeAspect="1"/>
          </p:cNvPicPr>
          <p:nvPr/>
        </p:nvPicPr>
        <p:blipFill>
          <a:blip r:embed="rId2"/>
          <a:stretch>
            <a:fillRect/>
          </a:stretch>
        </p:blipFill>
        <p:spPr>
          <a:xfrm>
            <a:off x="9601200" y="320040"/>
            <a:ext cx="594717" cy="685800"/>
          </a:xfrm>
          <a:prstGeom prst="rect">
            <a:avLst/>
          </a:prstGeom>
        </p:spPr>
      </p:pic>
      <p:pic>
        <p:nvPicPr>
          <p:cNvPr id="4" name="Picture 3" descr="media_1789460385231.png"/>
          <p:cNvPicPr>
            <a:picLocks noChangeAspect="1"/>
          </p:cNvPicPr>
          <p:nvPr/>
        </p:nvPicPr>
        <p:blipFill>
          <a:blip r:embed="rId3"/>
          <a:stretch>
            <a:fillRect/>
          </a:stretch>
        </p:blipFill>
        <p:spPr>
          <a:xfrm>
            <a:off x="10424160" y="411480"/>
            <a:ext cx="755117" cy="502920"/>
          </a:xfrm>
          <a:prstGeom prst="rect">
            <a:avLst/>
          </a:prstGeom>
        </p:spPr>
      </p:pic>
      <p:pic>
        <p:nvPicPr>
          <p:cNvPr id="5" name="Picture 4" descr="media_1789460385272.png"/>
          <p:cNvPicPr>
            <a:picLocks noChangeAspect="1"/>
          </p:cNvPicPr>
          <p:nvPr/>
        </p:nvPicPr>
        <p:blipFill>
          <a:blip r:embed="rId4"/>
          <a:stretch>
            <a:fillRect/>
          </a:stretch>
        </p:blipFill>
        <p:spPr>
          <a:xfrm>
            <a:off x="11247120" y="320040"/>
            <a:ext cx="685130" cy="685800"/>
          </a:xfrm>
          <a:prstGeom prst="rect">
            <a:avLst/>
          </a:prstGeom>
        </p:spPr>
      </p:pic>
      <p:sp>
        <p:nvSpPr>
          <p:cNvPr id="6" name="Rectangle 5"/>
          <p:cNvSpPr/>
          <p:nvPr/>
        </p:nvSpPr>
        <p:spPr>
          <a:xfrm>
            <a:off x="731520" y="1325880"/>
            <a:ext cx="10728655" cy="36576"/>
          </a:xfrm>
          <a:prstGeom prst="rect">
            <a:avLst/>
          </a:prstGeom>
          <a:solidFill>
            <a:srgbClr val="0284C7"/>
          </a:solidFill>
          <a:ln>
            <a:solidFill>
              <a:srgbClr val="0284C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731520" y="1554480"/>
            <a:ext cx="3383280" cy="4754880"/>
          </a:xfrm>
          <a:prstGeom prst="roundRect">
            <a:avLst/>
          </a:prstGeom>
          <a:solidFill>
            <a:srgbClr val="FFFFFF"/>
          </a:solidFill>
          <a:ln w="1905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ounded Rectangle 7"/>
          <p:cNvSpPr/>
          <p:nvPr/>
        </p:nvSpPr>
        <p:spPr>
          <a:xfrm>
            <a:off x="731520" y="1554480"/>
            <a:ext cx="3383280" cy="640080"/>
          </a:xfrm>
          <a:prstGeom prst="roundRect">
            <a:avLst/>
          </a:prstGeom>
          <a:solidFill>
            <a:srgbClr val="004A9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defRPr sz="1100" b="1">
                <a:solidFill>
                  <a:srgbClr val="FFFFFF"/>
                </a:solidFill>
              </a:defRPr>
            </a:pPr>
            <a:r>
              <a:t>UNDANG-UNDANG REPUBLIK INDONESIA</a:t>
            </a:r>
          </a:p>
        </p:txBody>
      </p:sp>
      <p:sp>
        <p:nvSpPr>
          <p:cNvPr id="9" name="TextBox 8"/>
          <p:cNvSpPr txBox="1"/>
          <p:nvPr/>
        </p:nvSpPr>
        <p:spPr>
          <a:xfrm>
            <a:off x="868680" y="2331720"/>
            <a:ext cx="3108960" cy="3840480"/>
          </a:xfrm>
          <a:prstGeom prst="rect">
            <a:avLst/>
          </a:prstGeom>
          <a:noFill/>
        </p:spPr>
        <p:txBody>
          <a:bodyPr wrap="square">
            <a:spAutoFit/>
          </a:bodyPr>
          <a:lstStyle/>
          <a:p>
            <a:pPr>
              <a:defRPr b="1" sz="1100">
                <a:solidFill>
                  <a:srgbClr val="004A99"/>
                </a:solidFill>
              </a:defRPr>
            </a:pPr>
            <a:r>
              <a:t>• UU No. 14 Tahun 2008</a:t>
            </a:r>
          </a:p>
          <a:p>
            <a:pPr>
              <a:spcAft>
                <a:spcPts val="600"/>
              </a:spcAft>
              <a:defRPr sz="950">
                <a:solidFill>
                  <a:srgbClr val="1E293B"/>
                </a:solidFill>
              </a:defRPr>
            </a:pPr>
            <a:r>
              <a:t>  tentang Keterbukaan Informasi Publik (KIP) - Payung hukum utama hak publik atas informasi.</a:t>
            </a:r>
          </a:p>
          <a:p>
            <a:pPr>
              <a:defRPr b="1" sz="1100">
                <a:solidFill>
                  <a:srgbClr val="004A99"/>
                </a:solidFill>
              </a:defRPr>
            </a:pPr>
            <a:r>
              <a:t>• UU No. 25 Tahun 2009</a:t>
            </a:r>
          </a:p>
          <a:p>
            <a:pPr>
              <a:spcAft>
                <a:spcPts val="600"/>
              </a:spcAft>
              <a:defRPr sz="950">
                <a:solidFill>
                  <a:srgbClr val="1E293B"/>
                </a:solidFill>
              </a:defRPr>
            </a:pPr>
            <a:r>
              <a:t>  tentang Pelayanan Publik - Asas kepastian, transparansi, dan akuntabilitas penyelenggara negara.</a:t>
            </a:r>
          </a:p>
          <a:p>
            <a:pPr>
              <a:defRPr b="1" sz="1100">
                <a:solidFill>
                  <a:srgbClr val="004A99"/>
                </a:solidFill>
              </a:defRPr>
            </a:pPr>
            <a:r>
              <a:t>• UU No. 43 Tahun 2009</a:t>
            </a:r>
          </a:p>
          <a:p>
            <a:pPr>
              <a:spcAft>
                <a:spcPts val="600"/>
              </a:spcAft>
              <a:defRPr sz="950">
                <a:solidFill>
                  <a:srgbClr val="1E293B"/>
                </a:solidFill>
              </a:defRPr>
            </a:pPr>
            <a:r>
              <a:t>  tentang Kearsipan - Pengelolaan, pelindungan, dan autentisitas arsip dinamis serta statis.</a:t>
            </a:r>
          </a:p>
          <a:p>
            <a:pPr>
              <a:defRPr b="1" sz="1100">
                <a:solidFill>
                  <a:srgbClr val="004A99"/>
                </a:solidFill>
              </a:defRPr>
            </a:pPr>
            <a:r>
              <a:t>• UU No. 40 Tahun 1999</a:t>
            </a:r>
          </a:p>
          <a:p>
            <a:pPr>
              <a:spcAft>
                <a:spcPts val="600"/>
              </a:spcAft>
              <a:defRPr sz="950">
                <a:solidFill>
                  <a:srgbClr val="1E293B"/>
                </a:solidFill>
              </a:defRPr>
            </a:pPr>
            <a:r>
              <a:t>  tentang Pers - Kemerdekaan pers dan pemenuhan hak publik untuk tahu (right to know).</a:t>
            </a:r>
          </a:p>
        </p:txBody>
      </p:sp>
      <p:sp>
        <p:nvSpPr>
          <p:cNvPr id="10" name="Rounded Rectangle 9"/>
          <p:cNvSpPr/>
          <p:nvPr/>
        </p:nvSpPr>
        <p:spPr>
          <a:xfrm>
            <a:off x="4389120" y="1554480"/>
            <a:ext cx="3383280" cy="4754880"/>
          </a:xfrm>
          <a:prstGeom prst="roundRect">
            <a:avLst/>
          </a:prstGeom>
          <a:solidFill>
            <a:srgbClr val="FFFFFF"/>
          </a:solidFill>
          <a:ln w="1905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ounded Rectangle 10"/>
          <p:cNvSpPr/>
          <p:nvPr/>
        </p:nvSpPr>
        <p:spPr>
          <a:xfrm>
            <a:off x="4389120" y="1554480"/>
            <a:ext cx="3383280" cy="640080"/>
          </a:xfrm>
          <a:prstGeom prst="roundRect">
            <a:avLst/>
          </a:prstGeom>
          <a:solidFill>
            <a:srgbClr val="D9770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defRPr sz="1100" b="1">
                <a:solidFill>
                  <a:srgbClr val="FFFFFF"/>
                </a:solidFill>
              </a:defRPr>
            </a:pPr>
            <a:r>
              <a:t>PERATURAN KOMISI INFORMASI (KIP)</a:t>
            </a:r>
          </a:p>
        </p:txBody>
      </p:sp>
      <p:sp>
        <p:nvSpPr>
          <p:cNvPr id="12" name="TextBox 11"/>
          <p:cNvSpPr txBox="1"/>
          <p:nvPr/>
        </p:nvSpPr>
        <p:spPr>
          <a:xfrm>
            <a:off x="4526280" y="2331720"/>
            <a:ext cx="3108960" cy="3840480"/>
          </a:xfrm>
          <a:prstGeom prst="rect">
            <a:avLst/>
          </a:prstGeom>
          <a:noFill/>
        </p:spPr>
        <p:txBody>
          <a:bodyPr wrap="square">
            <a:spAutoFit/>
          </a:bodyPr>
          <a:lstStyle/>
          <a:p>
            <a:pPr>
              <a:defRPr b="1" sz="1100">
                <a:solidFill>
                  <a:srgbClr val="D97706"/>
                </a:solidFill>
              </a:defRPr>
            </a:pPr>
            <a:r>
              <a:t>• PerKI No. 1 Tahun 2021</a:t>
            </a:r>
          </a:p>
          <a:p>
            <a:pPr>
              <a:spcAft>
                <a:spcPts val="1000"/>
              </a:spcAft>
              <a:defRPr sz="950">
                <a:solidFill>
                  <a:srgbClr val="1E293B"/>
                </a:solidFill>
              </a:defRPr>
            </a:pPr>
            <a:r>
              <a:t>  Standar Layanan Informasi Publik (SLIP) - Pedoman operasional klasifikasi berkala, setiap saat, dan serta merta.</a:t>
            </a:r>
          </a:p>
          <a:p>
            <a:pPr>
              <a:defRPr b="1" sz="1100">
                <a:solidFill>
                  <a:srgbClr val="D97706"/>
                </a:solidFill>
              </a:defRPr>
            </a:pPr>
            <a:r>
              <a:t>• PerKI No. 1 Tahun 2013</a:t>
            </a:r>
          </a:p>
          <a:p>
            <a:pPr>
              <a:spcAft>
                <a:spcPts val="1000"/>
              </a:spcAft>
              <a:defRPr sz="950">
                <a:solidFill>
                  <a:srgbClr val="1E293B"/>
                </a:solidFill>
              </a:defRPr>
            </a:pPr>
            <a:r>
              <a:t>  Prosedur Penyelesaian Sengketa Informasi Publik - Mekanisme mediasi dan ajudikasi non-litigasi.</a:t>
            </a:r>
          </a:p>
          <a:p>
            <a:pPr>
              <a:defRPr b="1" sz="1100">
                <a:solidFill>
                  <a:srgbClr val="D97706"/>
                </a:solidFill>
              </a:defRPr>
            </a:pPr>
            <a:r>
              <a:t>• PerKI No. 1 Tahun 2017</a:t>
            </a:r>
          </a:p>
          <a:p>
            <a:pPr>
              <a:spcAft>
                <a:spcPts val="1000"/>
              </a:spcAft>
              <a:defRPr sz="950">
                <a:solidFill>
                  <a:srgbClr val="1E293B"/>
                </a:solidFill>
              </a:defRPr>
            </a:pPr>
            <a:r>
              <a:t>  Pengklasifikasian Informasi Publik - Uji konsekuensi dan perlindungan informasi dikecualikan (DIK).</a:t>
            </a:r>
          </a:p>
        </p:txBody>
      </p:sp>
      <p:sp>
        <p:nvSpPr>
          <p:cNvPr id="13" name="Rounded Rectangle 12"/>
          <p:cNvSpPr/>
          <p:nvPr/>
        </p:nvSpPr>
        <p:spPr>
          <a:xfrm>
            <a:off x="8046720" y="1554480"/>
            <a:ext cx="3383280" cy="4754880"/>
          </a:xfrm>
          <a:prstGeom prst="roundRect">
            <a:avLst/>
          </a:prstGeom>
          <a:solidFill>
            <a:srgbClr val="FFFFFF"/>
          </a:solidFill>
          <a:ln w="1905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ounded Rectangle 13"/>
          <p:cNvSpPr/>
          <p:nvPr/>
        </p:nvSpPr>
        <p:spPr>
          <a:xfrm>
            <a:off x="8046720" y="1554480"/>
            <a:ext cx="3383280" cy="640080"/>
          </a:xfrm>
          <a:prstGeom prst="roundRect">
            <a:avLst/>
          </a:prstGeom>
          <a:solidFill>
            <a:srgbClr val="0B254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defRPr sz="1100" b="1">
                <a:solidFill>
                  <a:srgbClr val="FFFFFF"/>
                </a:solidFill>
              </a:defRPr>
            </a:pPr>
            <a:r>
              <a:t>REGULASI KEMENHUB &amp; PKTJ</a:t>
            </a:r>
          </a:p>
        </p:txBody>
      </p:sp>
      <p:sp>
        <p:nvSpPr>
          <p:cNvPr id="15" name="TextBox 14"/>
          <p:cNvSpPr txBox="1"/>
          <p:nvPr/>
        </p:nvSpPr>
        <p:spPr>
          <a:xfrm>
            <a:off x="8183879" y="2331720"/>
            <a:ext cx="3108960" cy="3840480"/>
          </a:xfrm>
          <a:prstGeom prst="rect">
            <a:avLst/>
          </a:prstGeom>
          <a:noFill/>
        </p:spPr>
        <p:txBody>
          <a:bodyPr wrap="square">
            <a:spAutoFit/>
          </a:bodyPr>
          <a:lstStyle/>
          <a:p>
            <a:pPr>
              <a:defRPr b="1" sz="1050">
                <a:solidFill>
                  <a:srgbClr val="004A99"/>
                </a:solidFill>
              </a:defRPr>
            </a:pPr>
            <a:r>
              <a:t>• Permenhub No. PM 46 Tahun 2018</a:t>
            </a:r>
          </a:p>
          <a:p>
            <a:pPr>
              <a:spcAft>
                <a:spcPts val="500"/>
              </a:spcAft>
              <a:defRPr sz="950">
                <a:solidFill>
                  <a:srgbClr val="1E293B"/>
                </a:solidFill>
              </a:defRPr>
            </a:pPr>
            <a:r>
              <a:t>  Pedoman Pengelolaan Informasi &amp; Dokumentasi di Lingkungan Kementerian Perhubungan.</a:t>
            </a:r>
          </a:p>
          <a:p>
            <a:pPr>
              <a:defRPr b="1" sz="1050">
                <a:solidFill>
                  <a:srgbClr val="004A99"/>
                </a:solidFill>
              </a:defRPr>
            </a:pPr>
            <a:r>
              <a:t>• Kepmenhub No. KM 117 Tahun 2022</a:t>
            </a:r>
          </a:p>
          <a:p>
            <a:pPr>
              <a:spcAft>
                <a:spcPts val="500"/>
              </a:spcAft>
              <a:defRPr sz="950">
                <a:solidFill>
                  <a:srgbClr val="1E293B"/>
                </a:solidFill>
              </a:defRPr>
            </a:pPr>
            <a:r>
              <a:t>  SOP Pejabat Pengelola Informasi &amp; Dokumentasi di Lingkungan Kemenhub.</a:t>
            </a:r>
          </a:p>
          <a:p>
            <a:pPr>
              <a:defRPr b="1" sz="1050">
                <a:solidFill>
                  <a:srgbClr val="004A99"/>
                </a:solidFill>
              </a:defRPr>
            </a:pPr>
            <a:r>
              <a:t>• Kepsekjen No. KP-SKJ 9 Tahun 2026</a:t>
            </a:r>
          </a:p>
          <a:p>
            <a:pPr>
              <a:spcAft>
                <a:spcPts val="500"/>
              </a:spcAft>
              <a:defRPr sz="950">
                <a:solidFill>
                  <a:srgbClr val="1E293B"/>
                </a:solidFill>
              </a:defRPr>
            </a:pPr>
            <a:r>
              <a:t>  Penetapan Daftar Informasi Publik (DIP) Kemenhub Terbaru 2026.</a:t>
            </a:r>
          </a:p>
          <a:p>
            <a:pPr>
              <a:defRPr b="1" sz="1050">
                <a:solidFill>
                  <a:srgbClr val="004A99"/>
                </a:solidFill>
              </a:defRPr>
            </a:pPr>
            <a:r>
              <a:t>• Kepala BPSDMP No. KP-BPSDMP 22/2025</a:t>
            </a:r>
          </a:p>
          <a:p>
            <a:pPr>
              <a:spcAft>
                <a:spcPts val="500"/>
              </a:spcAft>
              <a:defRPr sz="950">
                <a:solidFill>
                  <a:srgbClr val="1E293B"/>
                </a:solidFill>
              </a:defRPr>
            </a:pPr>
            <a:r>
              <a:t>  PPID Pelaksana di Lingkungan Badan Pengembangan SDM Perhubungan.</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731520" y="365760"/>
            <a:ext cx="8686800" cy="1005840"/>
          </a:xfrm>
          <a:prstGeom prst="rect">
            <a:avLst/>
          </a:prstGeom>
          <a:noFill/>
        </p:spPr>
        <p:txBody>
          <a:bodyPr wrap="square" lIns="0" tIns="0" rIns="0" bIns="0">
            <a:spAutoFit/>
          </a:bodyPr>
          <a:lstStyle/>
          <a:p>
            <a:pPr>
              <a:defRPr sz="1000" b="1">
                <a:solidFill>
                  <a:srgbClr val="004A99"/>
                </a:solidFill>
                <a:latin typeface="Segoe UI"/>
              </a:defRPr>
            </a:pPr>
            <a:r>
              <a:t>PPID PELAKSANA UPT PKTJ TEGAL</a:t>
            </a:r>
          </a:p>
          <a:p>
            <a:pPr>
              <a:defRPr sz="2200" b="1">
                <a:solidFill>
                  <a:srgbClr val="0B2545"/>
                </a:solidFill>
                <a:latin typeface="Segoe UI"/>
              </a:defRPr>
            </a:pPr>
            <a:r>
              <a:t>STRUKTUR ORGANISASI PPID PELAKSANA UPT PKTJ TEGAL</a:t>
            </a:r>
          </a:p>
        </p:txBody>
      </p:sp>
      <p:pic>
        <p:nvPicPr>
          <p:cNvPr id="3" name="Picture 2" descr="media_1789460385233.png"/>
          <p:cNvPicPr>
            <a:picLocks noChangeAspect="1"/>
          </p:cNvPicPr>
          <p:nvPr/>
        </p:nvPicPr>
        <p:blipFill>
          <a:blip r:embed="rId2"/>
          <a:stretch>
            <a:fillRect/>
          </a:stretch>
        </p:blipFill>
        <p:spPr>
          <a:xfrm>
            <a:off x="9601200" y="320040"/>
            <a:ext cx="594717" cy="685800"/>
          </a:xfrm>
          <a:prstGeom prst="rect">
            <a:avLst/>
          </a:prstGeom>
        </p:spPr>
      </p:pic>
      <p:pic>
        <p:nvPicPr>
          <p:cNvPr id="4" name="Picture 3" descr="media_1789460385231.png"/>
          <p:cNvPicPr>
            <a:picLocks noChangeAspect="1"/>
          </p:cNvPicPr>
          <p:nvPr/>
        </p:nvPicPr>
        <p:blipFill>
          <a:blip r:embed="rId3"/>
          <a:stretch>
            <a:fillRect/>
          </a:stretch>
        </p:blipFill>
        <p:spPr>
          <a:xfrm>
            <a:off x="10424160" y="411480"/>
            <a:ext cx="755117" cy="502920"/>
          </a:xfrm>
          <a:prstGeom prst="rect">
            <a:avLst/>
          </a:prstGeom>
        </p:spPr>
      </p:pic>
      <p:pic>
        <p:nvPicPr>
          <p:cNvPr id="5" name="Picture 4" descr="media_1789460385272.png"/>
          <p:cNvPicPr>
            <a:picLocks noChangeAspect="1"/>
          </p:cNvPicPr>
          <p:nvPr/>
        </p:nvPicPr>
        <p:blipFill>
          <a:blip r:embed="rId4"/>
          <a:stretch>
            <a:fillRect/>
          </a:stretch>
        </p:blipFill>
        <p:spPr>
          <a:xfrm>
            <a:off x="11247120" y="320040"/>
            <a:ext cx="685130" cy="685800"/>
          </a:xfrm>
          <a:prstGeom prst="rect">
            <a:avLst/>
          </a:prstGeom>
        </p:spPr>
      </p:pic>
      <p:sp>
        <p:nvSpPr>
          <p:cNvPr id="6" name="Rectangle 5"/>
          <p:cNvSpPr/>
          <p:nvPr/>
        </p:nvSpPr>
        <p:spPr>
          <a:xfrm>
            <a:off x="731520" y="1325880"/>
            <a:ext cx="10728655" cy="36576"/>
          </a:xfrm>
          <a:prstGeom prst="rect">
            <a:avLst/>
          </a:prstGeom>
          <a:solidFill>
            <a:srgbClr val="0284C7"/>
          </a:solidFill>
          <a:ln>
            <a:solidFill>
              <a:srgbClr val="0284C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731520" y="1554480"/>
            <a:ext cx="6858000" cy="868680"/>
          </a:xfrm>
          <a:prstGeom prst="roundRect">
            <a:avLst/>
          </a:prstGeom>
          <a:solidFill>
            <a:srgbClr val="0B254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914400" y="1600200"/>
            <a:ext cx="6492240" cy="777240"/>
          </a:xfrm>
          <a:prstGeom prst="rect">
            <a:avLst/>
          </a:prstGeom>
          <a:noFill/>
        </p:spPr>
        <p:txBody>
          <a:bodyPr wrap="square" lIns="0" tIns="0">
            <a:spAutoFit/>
          </a:bodyPr>
          <a:lstStyle/>
          <a:p>
            <a:pPr>
              <a:defRPr b="1" sz="1150">
                <a:solidFill>
                  <a:srgbClr val="FFFFFF"/>
                </a:solidFill>
              </a:defRPr>
            </a:pPr>
            <a:r>
              <a:t>ATASAN PPID PELAKSANA  —  Kepala BPSDMP &amp; Direktur PKTJ Tegal</a:t>
            </a:r>
          </a:p>
          <a:p>
            <a:pPr>
              <a:defRPr sz="950">
                <a:solidFill>
                  <a:srgbClr val="F1F5F9"/>
                </a:solidFill>
              </a:defRPr>
            </a:pPr>
            <a:r>
              <a:t>Penanggung Jawab Kebijakan Tertinggi &amp; Penyelesaian Keberatan</a:t>
            </a:r>
          </a:p>
        </p:txBody>
      </p:sp>
      <p:sp>
        <p:nvSpPr>
          <p:cNvPr id="9" name="Rounded Rectangle 8"/>
          <p:cNvSpPr/>
          <p:nvPr/>
        </p:nvSpPr>
        <p:spPr>
          <a:xfrm>
            <a:off x="731520" y="2514600"/>
            <a:ext cx="6858000" cy="868680"/>
          </a:xfrm>
          <a:prstGeom prst="roundRect">
            <a:avLst/>
          </a:prstGeom>
          <a:solidFill>
            <a:srgbClr val="004A9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914400" y="2560320"/>
            <a:ext cx="6492240" cy="777240"/>
          </a:xfrm>
          <a:prstGeom prst="rect">
            <a:avLst/>
          </a:prstGeom>
          <a:noFill/>
        </p:spPr>
        <p:txBody>
          <a:bodyPr wrap="square" lIns="0" tIns="0">
            <a:spAutoFit/>
          </a:bodyPr>
          <a:lstStyle/>
          <a:p>
            <a:pPr>
              <a:defRPr b="1" sz="1150">
                <a:solidFill>
                  <a:srgbClr val="FFFFFF"/>
                </a:solidFill>
              </a:defRPr>
            </a:pPr>
            <a:r>
              <a:t>PPID PELAKSANA UPT  —  Direktur PKTJ Tegal (Bambang Istiyanto)</a:t>
            </a:r>
          </a:p>
          <a:p>
            <a:pPr>
              <a:defRPr sz="950">
                <a:solidFill>
                  <a:srgbClr val="F1F5F9"/>
                </a:solidFill>
              </a:defRPr>
            </a:pPr>
            <a:r>
              <a:t>Pengarah Strategis Pelaksanaan Layanan Informasi di PKTJ</a:t>
            </a:r>
          </a:p>
        </p:txBody>
      </p:sp>
      <p:sp>
        <p:nvSpPr>
          <p:cNvPr id="11" name="Rounded Rectangle 10"/>
          <p:cNvSpPr/>
          <p:nvPr/>
        </p:nvSpPr>
        <p:spPr>
          <a:xfrm>
            <a:off x="731520" y="3474720"/>
            <a:ext cx="6858000" cy="868680"/>
          </a:xfrm>
          <a:prstGeom prst="roundRect">
            <a:avLst/>
          </a:prstGeom>
          <a:solidFill>
            <a:srgbClr val="0284C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914400" y="3520440"/>
            <a:ext cx="6492240" cy="777240"/>
          </a:xfrm>
          <a:prstGeom prst="rect">
            <a:avLst/>
          </a:prstGeom>
          <a:noFill/>
        </p:spPr>
        <p:txBody>
          <a:bodyPr wrap="square" lIns="0" tIns="0">
            <a:spAutoFit/>
          </a:bodyPr>
          <a:lstStyle/>
          <a:p>
            <a:pPr>
              <a:defRPr b="1" sz="1150">
                <a:solidFill>
                  <a:srgbClr val="FFFFFF"/>
                </a:solidFill>
              </a:defRPr>
            </a:pPr>
            <a:r>
              <a:t>MANAJER INFORMASI &amp; DOKUMENTASI  —  Pejabat Struktural Tata Usaha / Kabag Keuangan &amp; Umum</a:t>
            </a:r>
          </a:p>
          <a:p>
            <a:pPr>
              <a:defRPr sz="950">
                <a:solidFill>
                  <a:srgbClr val="F1F5F9"/>
                </a:solidFill>
              </a:defRPr>
            </a:pPr>
            <a:r>
              <a:t>Pengendali Teknis, Koordinasi Antar-Subbagian, &amp; Uji Konsekuensi</a:t>
            </a:r>
          </a:p>
        </p:txBody>
      </p:sp>
      <p:sp>
        <p:nvSpPr>
          <p:cNvPr id="13" name="Rounded Rectangle 12"/>
          <p:cNvSpPr/>
          <p:nvPr/>
        </p:nvSpPr>
        <p:spPr>
          <a:xfrm>
            <a:off x="731520" y="4434840"/>
            <a:ext cx="6858000" cy="868680"/>
          </a:xfrm>
          <a:prstGeom prst="roundRect">
            <a:avLst/>
          </a:prstGeom>
          <a:solidFill>
            <a:srgbClr val="D9770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914400" y="4480560"/>
            <a:ext cx="6492240" cy="777240"/>
          </a:xfrm>
          <a:prstGeom prst="rect">
            <a:avLst/>
          </a:prstGeom>
          <a:noFill/>
        </p:spPr>
        <p:txBody>
          <a:bodyPr wrap="square" lIns="0" tIns="0">
            <a:spAutoFit/>
          </a:bodyPr>
          <a:lstStyle/>
          <a:p>
            <a:pPr>
              <a:defRPr b="1" sz="1150">
                <a:solidFill>
                  <a:srgbClr val="FFFFFF"/>
                </a:solidFill>
              </a:defRPr>
            </a:pPr>
            <a:r>
              <a:t>PENGELOLA DOKUMENTASI  —  Pejabat Fungsional / Tim Humas &amp; Subbag Umum</a:t>
            </a:r>
          </a:p>
          <a:p>
            <a:pPr>
              <a:defRPr sz="950">
                <a:solidFill>
                  <a:srgbClr val="F1F5F9"/>
                </a:solidFill>
              </a:defRPr>
            </a:pPr>
            <a:r>
              <a:t>Pengolahan Arsip, Klasifikasi DIP/DIK, &amp; Pengunggahan ke Web</a:t>
            </a:r>
          </a:p>
        </p:txBody>
      </p:sp>
      <p:sp>
        <p:nvSpPr>
          <p:cNvPr id="15" name="Rounded Rectangle 14"/>
          <p:cNvSpPr/>
          <p:nvPr/>
        </p:nvSpPr>
        <p:spPr>
          <a:xfrm>
            <a:off x="731520" y="5394960"/>
            <a:ext cx="6858000" cy="868680"/>
          </a:xfrm>
          <a:prstGeom prst="roundRect">
            <a:avLst/>
          </a:prstGeom>
          <a:solidFill>
            <a:srgbClr val="10B98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914400" y="5440680"/>
            <a:ext cx="6492240" cy="777240"/>
          </a:xfrm>
          <a:prstGeom prst="rect">
            <a:avLst/>
          </a:prstGeom>
          <a:noFill/>
        </p:spPr>
        <p:txBody>
          <a:bodyPr wrap="square" lIns="0" tIns="0">
            <a:spAutoFit/>
          </a:bodyPr>
          <a:lstStyle/>
          <a:p>
            <a:pPr>
              <a:defRPr b="1" sz="1150">
                <a:solidFill>
                  <a:srgbClr val="FFFFFF"/>
                </a:solidFill>
              </a:defRPr>
            </a:pPr>
            <a:r>
              <a:t>PETUGAS MEJA LAYANAN INFORMASI  —  Staff Front Office PPID Kampus Margadana &amp; Slerok</a:t>
            </a:r>
          </a:p>
          <a:p>
            <a:pPr>
              <a:defRPr sz="950">
                <a:solidFill>
                  <a:srgbClr val="F1F5F9"/>
                </a:solidFill>
              </a:defRPr>
            </a:pPr>
            <a:r>
              <a:t>Pelayanan Langsung Pemohon, Buku Tamu, &amp; Akses Disabilitas</a:t>
            </a:r>
          </a:p>
        </p:txBody>
      </p:sp>
      <p:sp>
        <p:nvSpPr>
          <p:cNvPr id="17" name="Rounded Rectangle 16"/>
          <p:cNvSpPr/>
          <p:nvPr/>
        </p:nvSpPr>
        <p:spPr>
          <a:xfrm>
            <a:off x="7863840" y="1554480"/>
            <a:ext cx="3566160" cy="4754880"/>
          </a:xfrm>
          <a:prstGeom prst="roundRect">
            <a:avLst/>
          </a:prstGeom>
          <a:solidFill>
            <a:srgbClr val="FFFFFF"/>
          </a:solidFill>
          <a:ln w="1905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8046720" y="1737360"/>
            <a:ext cx="3200400" cy="4389120"/>
          </a:xfrm>
          <a:prstGeom prst="rect">
            <a:avLst/>
          </a:prstGeom>
          <a:noFill/>
        </p:spPr>
        <p:txBody>
          <a:bodyPr wrap="square">
            <a:spAutoFit/>
          </a:bodyPr>
          <a:lstStyle/>
          <a:p>
            <a:pPr>
              <a:spcAft>
                <a:spcPts val="1000"/>
              </a:spcAft>
              <a:defRPr b="1" sz="1300">
                <a:solidFill>
                  <a:srgbClr val="0B2545"/>
                </a:solidFill>
              </a:defRPr>
            </a:pPr>
            <a:r>
              <a:t>LANDASAN STRUKTURAL PPID</a:t>
            </a:r>
          </a:p>
          <a:p>
            <a:pPr>
              <a:defRPr b="1" sz="1050">
                <a:solidFill>
                  <a:srgbClr val="004A99"/>
                </a:solidFill>
              </a:defRPr>
            </a:pPr>
            <a:r>
              <a:t>✓ Dasar Pembentukan</a:t>
            </a:r>
          </a:p>
          <a:p>
            <a:pPr>
              <a:spcAft>
                <a:spcPts val="800"/>
              </a:spcAft>
              <a:defRPr sz="950">
                <a:solidFill>
                  <a:srgbClr val="1E293B"/>
                </a:solidFill>
              </a:defRPr>
            </a:pPr>
            <a:r>
              <a:t>Berdasarkan PM 46 Tahun 2018 dan SK Kepala BPSDMP No. KP-BPSDMP 22 Tahun 2025 tentang Struktur PPID di 27 UPT Lingkungan BPSDMP.</a:t>
            </a:r>
          </a:p>
          <a:p>
            <a:pPr>
              <a:defRPr b="1" sz="1050">
                <a:solidFill>
                  <a:srgbClr val="004A99"/>
                </a:solidFill>
              </a:defRPr>
            </a:pPr>
            <a:r>
              <a:t>✓ Prinsip Satu Pintu (One Gate)</a:t>
            </a:r>
          </a:p>
          <a:p>
            <a:pPr>
              <a:spcAft>
                <a:spcPts val="800"/>
              </a:spcAft>
              <a:defRPr sz="950">
                <a:solidFill>
                  <a:srgbClr val="1E293B"/>
                </a:solidFill>
              </a:defRPr>
            </a:pPr>
            <a:r>
              <a:t>Seluruh permohonan informasi publik dilayani secara terpusat melalui satu pintu PPID Pelaksana PKTJ Tegal guna menjamin keselarasan data.</a:t>
            </a:r>
          </a:p>
          <a:p>
            <a:pPr>
              <a:defRPr b="1" sz="1050">
                <a:solidFill>
                  <a:srgbClr val="004A99"/>
                </a:solidFill>
              </a:defRPr>
            </a:pPr>
            <a:r>
              <a:t>✓ Aksesibilitas Multi-Kampus</a:t>
            </a:r>
          </a:p>
          <a:p>
            <a:pPr>
              <a:spcAft>
                <a:spcPts val="800"/>
              </a:spcAft>
              <a:defRPr sz="950">
                <a:solidFill>
                  <a:srgbClr val="1E293B"/>
                </a:solidFill>
              </a:defRPr>
            </a:pPr>
            <a:r>
              <a:t>Layanan fisik dibuka di dua kampus utama:</a:t>
            </a:r>
            <a:br/>
            <a:r>
              <a:t>• Kampus 1: Jl. Perintis Kemerdekaan (Slerok)</a:t>
            </a:r>
            <a:br/>
            <a:r>
              <a:t>• Kampus 2: Jl. KH. Abdul Syukur (Margadana)</a:t>
            </a:r>
          </a:p>
          <a:p>
            <a:pPr>
              <a:defRPr b="1" sz="1050">
                <a:solidFill>
                  <a:srgbClr val="004A99"/>
                </a:solidFill>
              </a:defRPr>
            </a:pPr>
            <a:r>
              <a:t>✓ Komitmen 'Zero Rupiah'</a:t>
            </a:r>
          </a:p>
          <a:p>
            <a:pPr>
              <a:spcAft>
                <a:spcPts val="800"/>
              </a:spcAft>
              <a:defRPr sz="950">
                <a:solidFill>
                  <a:srgbClr val="1E293B"/>
                </a:solidFill>
              </a:defRPr>
            </a:pPr>
            <a:r>
              <a:t>Seluruh pelayanan informasi publik bebas biaya (Rp 0). Biaya penggandaan hanya dikenakan bila pemohon menghendaki hardcopy di luar standar.</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731520" y="365760"/>
            <a:ext cx="8686800" cy="1005840"/>
          </a:xfrm>
          <a:prstGeom prst="rect">
            <a:avLst/>
          </a:prstGeom>
          <a:noFill/>
        </p:spPr>
        <p:txBody>
          <a:bodyPr wrap="square" lIns="0" tIns="0" rIns="0" bIns="0">
            <a:spAutoFit/>
          </a:bodyPr>
          <a:lstStyle/>
          <a:p>
            <a:pPr>
              <a:defRPr sz="1000" b="1">
                <a:solidFill>
                  <a:srgbClr val="004A99"/>
                </a:solidFill>
                <a:latin typeface="Segoe UI"/>
              </a:defRPr>
            </a:pPr>
            <a:r>
              <a:t>PPID PELAKSANA UPT PKTJ TEGAL</a:t>
            </a:r>
          </a:p>
          <a:p>
            <a:pPr>
              <a:defRPr sz="2200" b="1">
                <a:solidFill>
                  <a:srgbClr val="0B2545"/>
                </a:solidFill>
                <a:latin typeface="Segoe UI"/>
              </a:defRPr>
            </a:pPr>
            <a:r>
              <a:t>PREDIKAT &amp; CAPAIAN ANUGERAH KETERBUKAAN INFORMASI PUBLIK (AKIP)</a:t>
            </a:r>
          </a:p>
        </p:txBody>
      </p:sp>
      <p:pic>
        <p:nvPicPr>
          <p:cNvPr id="3" name="Picture 2" descr="media_1789460385233.png"/>
          <p:cNvPicPr>
            <a:picLocks noChangeAspect="1"/>
          </p:cNvPicPr>
          <p:nvPr/>
        </p:nvPicPr>
        <p:blipFill>
          <a:blip r:embed="rId2"/>
          <a:stretch>
            <a:fillRect/>
          </a:stretch>
        </p:blipFill>
        <p:spPr>
          <a:xfrm>
            <a:off x="9601200" y="320040"/>
            <a:ext cx="594717" cy="685800"/>
          </a:xfrm>
          <a:prstGeom prst="rect">
            <a:avLst/>
          </a:prstGeom>
        </p:spPr>
      </p:pic>
      <p:pic>
        <p:nvPicPr>
          <p:cNvPr id="4" name="Picture 3" descr="media_1789460385231.png"/>
          <p:cNvPicPr>
            <a:picLocks noChangeAspect="1"/>
          </p:cNvPicPr>
          <p:nvPr/>
        </p:nvPicPr>
        <p:blipFill>
          <a:blip r:embed="rId3"/>
          <a:stretch>
            <a:fillRect/>
          </a:stretch>
        </p:blipFill>
        <p:spPr>
          <a:xfrm>
            <a:off x="10424160" y="411480"/>
            <a:ext cx="755117" cy="502920"/>
          </a:xfrm>
          <a:prstGeom prst="rect">
            <a:avLst/>
          </a:prstGeom>
        </p:spPr>
      </p:pic>
      <p:pic>
        <p:nvPicPr>
          <p:cNvPr id="5" name="Picture 4" descr="media_1789460385272.png"/>
          <p:cNvPicPr>
            <a:picLocks noChangeAspect="1"/>
          </p:cNvPicPr>
          <p:nvPr/>
        </p:nvPicPr>
        <p:blipFill>
          <a:blip r:embed="rId4"/>
          <a:stretch>
            <a:fillRect/>
          </a:stretch>
        </p:blipFill>
        <p:spPr>
          <a:xfrm>
            <a:off x="11247120" y="320040"/>
            <a:ext cx="685130" cy="685800"/>
          </a:xfrm>
          <a:prstGeom prst="rect">
            <a:avLst/>
          </a:prstGeom>
        </p:spPr>
      </p:pic>
      <p:sp>
        <p:nvSpPr>
          <p:cNvPr id="6" name="Rectangle 5"/>
          <p:cNvSpPr/>
          <p:nvPr/>
        </p:nvSpPr>
        <p:spPr>
          <a:xfrm>
            <a:off x="731520" y="1325880"/>
            <a:ext cx="10728655" cy="36576"/>
          </a:xfrm>
          <a:prstGeom prst="rect">
            <a:avLst/>
          </a:prstGeom>
          <a:solidFill>
            <a:srgbClr val="0284C7"/>
          </a:solidFill>
          <a:ln>
            <a:solidFill>
              <a:srgbClr val="0284C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731520" y="1554480"/>
            <a:ext cx="3291840" cy="4754880"/>
          </a:xfrm>
          <a:prstGeom prst="roundRect">
            <a:avLst/>
          </a:prstGeom>
          <a:solidFill>
            <a:srgbClr val="FFFFFF"/>
          </a:solidFill>
          <a:ln w="1905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ounded Rectangle 7"/>
          <p:cNvSpPr/>
          <p:nvPr/>
        </p:nvSpPr>
        <p:spPr>
          <a:xfrm>
            <a:off x="1005840" y="1828800"/>
            <a:ext cx="2743200" cy="457200"/>
          </a:xfrm>
          <a:prstGeom prst="roundRect">
            <a:avLst/>
          </a:prstGeom>
          <a:solidFill>
            <a:srgbClr val="64748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defRPr b="1" sz="1200">
                <a:solidFill>
                  <a:srgbClr val="FFFFFF"/>
                </a:solidFill>
              </a:defRPr>
            </a:pPr>
            <a:r>
              <a:t>PENILAIAN AKIP 2024</a:t>
            </a:r>
          </a:p>
        </p:txBody>
      </p:sp>
      <p:sp>
        <p:nvSpPr>
          <p:cNvPr id="9" name="TextBox 8"/>
          <p:cNvSpPr txBox="1"/>
          <p:nvPr/>
        </p:nvSpPr>
        <p:spPr>
          <a:xfrm>
            <a:off x="1005840" y="2468880"/>
            <a:ext cx="2743200" cy="1188720"/>
          </a:xfrm>
          <a:prstGeom prst="rect">
            <a:avLst/>
          </a:prstGeom>
          <a:noFill/>
        </p:spPr>
        <p:txBody>
          <a:bodyPr wrap="none">
            <a:spAutoFit/>
          </a:bodyPr>
          <a:lstStyle/>
          <a:p>
            <a:pPr algn="ctr">
              <a:defRPr sz="5400" b="1">
                <a:solidFill>
                  <a:srgbClr val="64748B"/>
                </a:solidFill>
              </a:defRPr>
            </a:pPr>
            <a:r>
              <a:t>71,4</a:t>
            </a:r>
          </a:p>
        </p:txBody>
      </p:sp>
      <p:sp>
        <p:nvSpPr>
          <p:cNvPr id="10" name="TextBox 9"/>
          <p:cNvSpPr txBox="1"/>
          <p:nvPr/>
        </p:nvSpPr>
        <p:spPr>
          <a:xfrm>
            <a:off x="914400" y="3749039"/>
            <a:ext cx="2926080" cy="2286000"/>
          </a:xfrm>
          <a:prstGeom prst="rect">
            <a:avLst/>
          </a:prstGeom>
          <a:noFill/>
        </p:spPr>
        <p:txBody>
          <a:bodyPr wrap="square">
            <a:spAutoFit/>
          </a:bodyPr>
          <a:lstStyle/>
          <a:p>
            <a:pPr>
              <a:defRPr b="1" sz="1200">
                <a:solidFill>
                  <a:srgbClr val="0B2545"/>
                </a:solidFill>
              </a:defRPr>
            </a:pPr>
            <a:r>
              <a:t>Predikat: CUKUP INFORMATIF</a:t>
            </a:r>
          </a:p>
          <a:p/>
          <a:p>
            <a:r>
              <a:t>• Tahap awal pembentukan sistem terpadu PPID UPT.</a:t>
            </a:r>
          </a:p>
          <a:p>
            <a:r>
              <a:t>• Integrasi dokumen dan pengarsipan masih dalam pembenahan bertahap.</a:t>
            </a:r>
          </a:p>
          <a:p>
            <a:r>
              <a:t>• Portal informasi masih menyatu dengan situs akademik induk.</a:t>
            </a:r>
          </a:p>
        </p:txBody>
      </p:sp>
      <p:sp>
        <p:nvSpPr>
          <p:cNvPr id="11" name="Rounded Rectangle 10"/>
          <p:cNvSpPr/>
          <p:nvPr/>
        </p:nvSpPr>
        <p:spPr>
          <a:xfrm>
            <a:off x="4297680" y="1554480"/>
            <a:ext cx="3474720" cy="4754880"/>
          </a:xfrm>
          <a:prstGeom prst="roundRect">
            <a:avLst/>
          </a:prstGeom>
          <a:solidFill>
            <a:srgbClr val="0B2545"/>
          </a:solidFill>
          <a:ln w="19050">
            <a:solidFill>
              <a:srgbClr val="FFB703"/>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ounded Rectangle 11"/>
          <p:cNvSpPr/>
          <p:nvPr/>
        </p:nvSpPr>
        <p:spPr>
          <a:xfrm>
            <a:off x="4572000" y="1828800"/>
            <a:ext cx="2926080" cy="457200"/>
          </a:xfrm>
          <a:prstGeom prst="roundRect">
            <a:avLst/>
          </a:prstGeom>
          <a:solidFill>
            <a:srgbClr val="FFB70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defRPr b="1" sz="1200">
                <a:solidFill>
                  <a:srgbClr val="0B2545"/>
                </a:solidFill>
              </a:defRPr>
            </a:pPr>
            <a:r>
              <a:t>PENILAIAN AKIP 2025 (OFFICIAL)</a:t>
            </a:r>
          </a:p>
        </p:txBody>
      </p:sp>
      <p:sp>
        <p:nvSpPr>
          <p:cNvPr id="13" name="TextBox 12"/>
          <p:cNvSpPr txBox="1"/>
          <p:nvPr/>
        </p:nvSpPr>
        <p:spPr>
          <a:xfrm>
            <a:off x="4572000" y="2468880"/>
            <a:ext cx="2926080" cy="1188720"/>
          </a:xfrm>
          <a:prstGeom prst="rect">
            <a:avLst/>
          </a:prstGeom>
          <a:noFill/>
        </p:spPr>
        <p:txBody>
          <a:bodyPr wrap="none">
            <a:spAutoFit/>
          </a:bodyPr>
          <a:lstStyle/>
          <a:p>
            <a:pPr algn="ctr">
              <a:defRPr sz="5400" b="1">
                <a:solidFill>
                  <a:srgbClr val="FFB703"/>
                </a:solidFill>
              </a:defRPr>
            </a:pPr>
            <a:r>
              <a:t>89,0</a:t>
            </a:r>
          </a:p>
        </p:txBody>
      </p:sp>
      <p:sp>
        <p:nvSpPr>
          <p:cNvPr id="14" name="TextBox 13"/>
          <p:cNvSpPr txBox="1"/>
          <p:nvPr/>
        </p:nvSpPr>
        <p:spPr>
          <a:xfrm>
            <a:off x="4480560" y="3749039"/>
            <a:ext cx="3108960" cy="2377440"/>
          </a:xfrm>
          <a:prstGeom prst="rect">
            <a:avLst/>
          </a:prstGeom>
          <a:noFill/>
        </p:spPr>
        <p:txBody>
          <a:bodyPr wrap="square">
            <a:spAutoFit/>
          </a:bodyPr>
          <a:lstStyle/>
          <a:p>
            <a:pPr>
              <a:defRPr b="1" sz="1200">
                <a:solidFill>
                  <a:srgbClr val="FFFFFF"/>
                </a:solidFill>
              </a:defRPr>
            </a:pPr>
            <a:r>
              <a:t>Predikat: MENUJU INFORMATIF</a:t>
            </a:r>
          </a:p>
          <a:p>
            <a:r>
              <a:t>Lonjakan Impresif: +17,6 Poin!</a:t>
            </a:r>
          </a:p>
          <a:p/>
          <a:p>
            <a:r>
              <a:t>★ PERINGKAT KE-3 NASIONAL dari 40 Satker PPID di Kategori Menuju Informatif se-Kemenhub.</a:t>
            </a:r>
          </a:p>
          <a:p>
            <a:r>
              <a:t>★ Pemutakhiran Daftar Informasi Publik secara konsisten.</a:t>
            </a:r>
          </a:p>
          <a:p>
            <a:r>
              <a:t>★ Peluncuran portal mandiri https://ppid.pktj.ac.id.</a:t>
            </a:r>
          </a:p>
        </p:txBody>
      </p:sp>
      <p:sp>
        <p:nvSpPr>
          <p:cNvPr id="15" name="Rounded Rectangle 14"/>
          <p:cNvSpPr/>
          <p:nvPr/>
        </p:nvSpPr>
        <p:spPr>
          <a:xfrm>
            <a:off x="8046720" y="1554480"/>
            <a:ext cx="3383280" cy="4754880"/>
          </a:xfrm>
          <a:prstGeom prst="roundRect">
            <a:avLst/>
          </a:prstGeom>
          <a:solidFill>
            <a:srgbClr val="FFFFFF"/>
          </a:solidFill>
          <a:ln w="19050">
            <a:solidFill>
              <a:srgbClr val="004A99"/>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ounded Rectangle 15"/>
          <p:cNvSpPr/>
          <p:nvPr/>
        </p:nvSpPr>
        <p:spPr>
          <a:xfrm>
            <a:off x="8321040" y="1828800"/>
            <a:ext cx="2834640" cy="457200"/>
          </a:xfrm>
          <a:prstGeom prst="roundRect">
            <a:avLst/>
          </a:prstGeom>
          <a:solidFill>
            <a:srgbClr val="004A9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defRPr b="1" sz="1200">
                <a:solidFill>
                  <a:srgbClr val="FFFFFF"/>
                </a:solidFill>
              </a:defRPr>
            </a:pPr>
            <a:r>
              <a:t>TARGET AKIP 2026</a:t>
            </a:r>
          </a:p>
        </p:txBody>
      </p:sp>
      <p:sp>
        <p:nvSpPr>
          <p:cNvPr id="17" name="TextBox 16"/>
          <p:cNvSpPr txBox="1"/>
          <p:nvPr/>
        </p:nvSpPr>
        <p:spPr>
          <a:xfrm>
            <a:off x="8321040" y="2468880"/>
            <a:ext cx="2834640" cy="1188720"/>
          </a:xfrm>
          <a:prstGeom prst="rect">
            <a:avLst/>
          </a:prstGeom>
          <a:noFill/>
        </p:spPr>
        <p:txBody>
          <a:bodyPr wrap="none">
            <a:spAutoFit/>
          </a:bodyPr>
          <a:lstStyle/>
          <a:p>
            <a:pPr algn="ctr">
              <a:defRPr sz="5400" b="1">
                <a:solidFill>
                  <a:srgbClr val="004A99"/>
                </a:solidFill>
              </a:defRPr>
            </a:pPr>
            <a:r>
              <a:t>&gt; 90</a:t>
            </a:r>
          </a:p>
        </p:txBody>
      </p:sp>
      <p:sp>
        <p:nvSpPr>
          <p:cNvPr id="18" name="TextBox 17"/>
          <p:cNvSpPr txBox="1"/>
          <p:nvPr/>
        </p:nvSpPr>
        <p:spPr>
          <a:xfrm>
            <a:off x="8229600" y="3749039"/>
            <a:ext cx="3017520" cy="2377440"/>
          </a:xfrm>
          <a:prstGeom prst="rect">
            <a:avLst/>
          </a:prstGeom>
          <a:noFill/>
        </p:spPr>
        <p:txBody>
          <a:bodyPr wrap="square">
            <a:spAutoFit/>
          </a:bodyPr>
          <a:lstStyle/>
          <a:p>
            <a:pPr>
              <a:defRPr b="1" sz="1200">
                <a:solidFill>
                  <a:srgbClr val="004A99"/>
                </a:solidFill>
              </a:defRPr>
            </a:pPr>
            <a:r>
              <a:t>Target: PREDIKAT INFORMATIF</a:t>
            </a:r>
          </a:p>
          <a:p>
            <a:r>
              <a:t>(Kategori Tertinggi Badan Publik)</a:t>
            </a:r>
          </a:p>
          <a:p/>
          <a:p>
            <a:r>
              <a:t>• Pemutakhiran penuh DIP 2026 sesuai KP-SKJ 9 Tahun 2026.</a:t>
            </a:r>
          </a:p>
          <a:p>
            <a:r>
              <a:t>• Digitalisasi data statistik kepegawaian &amp; barjas lengkap.</a:t>
            </a:r>
          </a:p>
          <a:p>
            <a:r>
              <a:t>• Fasilitas ramah disabilitas &amp; ruang pelayanan khusus PPID.</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731520" y="365760"/>
            <a:ext cx="8686800" cy="1005840"/>
          </a:xfrm>
          <a:prstGeom prst="rect">
            <a:avLst/>
          </a:prstGeom>
          <a:noFill/>
        </p:spPr>
        <p:txBody>
          <a:bodyPr wrap="square" lIns="0" tIns="0" rIns="0" bIns="0">
            <a:spAutoFit/>
          </a:bodyPr>
          <a:lstStyle/>
          <a:p>
            <a:pPr>
              <a:defRPr sz="1000" b="1">
                <a:solidFill>
                  <a:srgbClr val="004A99"/>
                </a:solidFill>
                <a:latin typeface="Segoe UI"/>
              </a:defRPr>
            </a:pPr>
            <a:r>
              <a:t>PPID PELAKSANA UPT PKTJ TEGAL</a:t>
            </a:r>
          </a:p>
          <a:p>
            <a:pPr>
              <a:defRPr sz="2200" b="1">
                <a:solidFill>
                  <a:srgbClr val="0B2545"/>
                </a:solidFill>
                <a:latin typeface="Segoe UI"/>
              </a:defRPr>
            </a:pPr>
            <a:r>
              <a:t>SARANA &amp; PRASARANA PELAYANAN INFORMASI PUBLIK</a:t>
            </a:r>
          </a:p>
        </p:txBody>
      </p:sp>
      <p:pic>
        <p:nvPicPr>
          <p:cNvPr id="3" name="Picture 2" descr="media_1789460385233.png"/>
          <p:cNvPicPr>
            <a:picLocks noChangeAspect="1"/>
          </p:cNvPicPr>
          <p:nvPr/>
        </p:nvPicPr>
        <p:blipFill>
          <a:blip r:embed="rId2"/>
          <a:stretch>
            <a:fillRect/>
          </a:stretch>
        </p:blipFill>
        <p:spPr>
          <a:xfrm>
            <a:off x="9601200" y="320040"/>
            <a:ext cx="594717" cy="685800"/>
          </a:xfrm>
          <a:prstGeom prst="rect">
            <a:avLst/>
          </a:prstGeom>
        </p:spPr>
      </p:pic>
      <p:pic>
        <p:nvPicPr>
          <p:cNvPr id="4" name="Picture 3" descr="media_1789460385231.png"/>
          <p:cNvPicPr>
            <a:picLocks noChangeAspect="1"/>
          </p:cNvPicPr>
          <p:nvPr/>
        </p:nvPicPr>
        <p:blipFill>
          <a:blip r:embed="rId3"/>
          <a:stretch>
            <a:fillRect/>
          </a:stretch>
        </p:blipFill>
        <p:spPr>
          <a:xfrm>
            <a:off x="10424160" y="411480"/>
            <a:ext cx="755117" cy="502920"/>
          </a:xfrm>
          <a:prstGeom prst="rect">
            <a:avLst/>
          </a:prstGeom>
        </p:spPr>
      </p:pic>
      <p:pic>
        <p:nvPicPr>
          <p:cNvPr id="5" name="Picture 4" descr="media_1789460385272.png"/>
          <p:cNvPicPr>
            <a:picLocks noChangeAspect="1"/>
          </p:cNvPicPr>
          <p:nvPr/>
        </p:nvPicPr>
        <p:blipFill>
          <a:blip r:embed="rId4"/>
          <a:stretch>
            <a:fillRect/>
          </a:stretch>
        </p:blipFill>
        <p:spPr>
          <a:xfrm>
            <a:off x="11247120" y="320040"/>
            <a:ext cx="685130" cy="685800"/>
          </a:xfrm>
          <a:prstGeom prst="rect">
            <a:avLst/>
          </a:prstGeom>
        </p:spPr>
      </p:pic>
      <p:sp>
        <p:nvSpPr>
          <p:cNvPr id="6" name="Rectangle 5"/>
          <p:cNvSpPr/>
          <p:nvPr/>
        </p:nvSpPr>
        <p:spPr>
          <a:xfrm>
            <a:off x="731520" y="1325880"/>
            <a:ext cx="10728655" cy="36576"/>
          </a:xfrm>
          <a:prstGeom prst="rect">
            <a:avLst/>
          </a:prstGeom>
          <a:solidFill>
            <a:srgbClr val="0284C7"/>
          </a:solidFill>
          <a:ln>
            <a:solidFill>
              <a:srgbClr val="0284C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731520" y="1554480"/>
            <a:ext cx="5212080" cy="2286000"/>
          </a:xfrm>
          <a:prstGeom prst="roundRect">
            <a:avLst/>
          </a:prstGeom>
          <a:solidFill>
            <a:srgbClr val="FFFFFF"/>
          </a:solidFill>
          <a:ln w="1905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914400" y="1691640"/>
            <a:ext cx="3200400" cy="2011680"/>
          </a:xfrm>
          <a:prstGeom prst="rect">
            <a:avLst/>
          </a:prstGeom>
          <a:noFill/>
        </p:spPr>
        <p:txBody>
          <a:bodyPr wrap="square">
            <a:spAutoFit/>
          </a:bodyPr>
          <a:lstStyle/>
          <a:p>
            <a:pPr>
              <a:defRPr b="1" sz="1200">
                <a:solidFill>
                  <a:srgbClr val="004A99"/>
                </a:solidFill>
              </a:defRPr>
            </a:pPr>
            <a:r>
              <a:t>1. MEJA LAYANAN FISIK TERPADU</a:t>
            </a:r>
          </a:p>
          <a:p>
            <a:r>
              <a:t>• Lokasi: Kampus 2 Margadana &amp; Kampus 1 Slerok</a:t>
            </a:r>
          </a:p>
          <a:p>
            <a:r>
              <a:t>• Dilengkapi ruang tunggu representatif ber-AC</a:t>
            </a:r>
          </a:p>
          <a:p>
            <a:r>
              <a:t>• Jam Operasional: Senin - Jumat (08.00 - 15.00 WIB)</a:t>
            </a:r>
          </a:p>
          <a:p>
            <a:r>
              <a:t>• Petugas front office terlatih &amp; ramah.</a:t>
            </a:r>
          </a:p>
        </p:txBody>
      </p:sp>
      <p:pic>
        <p:nvPicPr>
          <p:cNvPr id="9" name="Picture 8" descr="meja-layanan-ppid.png"/>
          <p:cNvPicPr>
            <a:picLocks noChangeAspect="1"/>
          </p:cNvPicPr>
          <p:nvPr/>
        </p:nvPicPr>
        <p:blipFill>
          <a:blip r:embed="rId5"/>
          <a:stretch>
            <a:fillRect/>
          </a:stretch>
        </p:blipFill>
        <p:spPr>
          <a:xfrm>
            <a:off x="4206240" y="1691640"/>
            <a:ext cx="1554480" cy="1965960"/>
          </a:xfrm>
          <a:prstGeom prst="rect">
            <a:avLst/>
          </a:prstGeom>
        </p:spPr>
      </p:pic>
      <p:sp>
        <p:nvSpPr>
          <p:cNvPr id="10" name="Rounded Rectangle 9"/>
          <p:cNvSpPr/>
          <p:nvPr/>
        </p:nvSpPr>
        <p:spPr>
          <a:xfrm>
            <a:off x="6217920" y="1554480"/>
            <a:ext cx="5212080" cy="2286000"/>
          </a:xfrm>
          <a:prstGeom prst="roundRect">
            <a:avLst/>
          </a:prstGeom>
          <a:solidFill>
            <a:srgbClr val="FFFFFF"/>
          </a:solidFill>
          <a:ln w="1905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6400800" y="1691640"/>
            <a:ext cx="4846320" cy="2011680"/>
          </a:xfrm>
          <a:prstGeom prst="rect">
            <a:avLst/>
          </a:prstGeom>
          <a:noFill/>
        </p:spPr>
        <p:txBody>
          <a:bodyPr wrap="square">
            <a:spAutoFit/>
          </a:bodyPr>
          <a:lstStyle/>
          <a:p>
            <a:pPr>
              <a:defRPr b="1" sz="1200">
                <a:solidFill>
                  <a:srgbClr val="004A99"/>
                </a:solidFill>
              </a:defRPr>
            </a:pPr>
            <a:r>
              <a:t>2. PORTAL DIGITAL E-PPID 24/7</a:t>
            </a:r>
          </a:p>
          <a:p>
            <a:r>
              <a:t>• Website: https://ppid.pktj.ac.id</a:t>
            </a:r>
          </a:p>
          <a:p>
            <a:r>
              <a:t>• Formulir Permohonan &amp; Keberatan Online terintegrasi</a:t>
            </a:r>
          </a:p>
          <a:p>
            <a:r>
              <a:t>• Akses unduh langsung (self-service) seluruh DIP 2026</a:t>
            </a:r>
          </a:p>
          <a:p>
            <a:r>
              <a:t>• Responsif smartphone, tablet, dan desktop.</a:t>
            </a:r>
          </a:p>
        </p:txBody>
      </p:sp>
      <p:sp>
        <p:nvSpPr>
          <p:cNvPr id="12" name="Rounded Rectangle 11"/>
          <p:cNvSpPr/>
          <p:nvPr/>
        </p:nvSpPr>
        <p:spPr>
          <a:xfrm>
            <a:off x="731520" y="4023360"/>
            <a:ext cx="5212080" cy="2286000"/>
          </a:xfrm>
          <a:prstGeom prst="roundRect">
            <a:avLst/>
          </a:prstGeom>
          <a:solidFill>
            <a:srgbClr val="FFFFFF"/>
          </a:solidFill>
          <a:ln w="1905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914400" y="4160520"/>
            <a:ext cx="3200400" cy="2011680"/>
          </a:xfrm>
          <a:prstGeom prst="rect">
            <a:avLst/>
          </a:prstGeom>
          <a:noFill/>
        </p:spPr>
        <p:txBody>
          <a:bodyPr wrap="square">
            <a:spAutoFit/>
          </a:bodyPr>
          <a:lstStyle/>
          <a:p>
            <a:pPr>
              <a:defRPr b="1" sz="1200">
                <a:solidFill>
                  <a:srgbClr val="004A99"/>
                </a:solidFill>
              </a:defRPr>
            </a:pPr>
            <a:r>
              <a:t>3. FORMULIR &amp; BUKU REGISTER LAYANAN</a:t>
            </a:r>
          </a:p>
          <a:p>
            <a:r>
              <a:t>• Formulir Permohonan Informasi Publik (Cetak &amp; Digital)</a:t>
            </a:r>
          </a:p>
          <a:p>
            <a:r>
              <a:t>• Formulir Pengajuan Keberatan Informasi Publik</a:t>
            </a:r>
          </a:p>
          <a:p>
            <a:r>
              <a:t>• Tanda Terima Permohonan ber-barcode/registrasi resmi</a:t>
            </a:r>
          </a:p>
          <a:p>
            <a:r>
              <a:t>• Surat Pemberitahuan Tertulis Penolakan/Persetujuan.</a:t>
            </a:r>
          </a:p>
        </p:txBody>
      </p:sp>
      <p:pic>
        <p:nvPicPr>
          <p:cNvPr id="14" name="Picture 13" descr="formulir-meja-layanan.jpg"/>
          <p:cNvPicPr>
            <a:picLocks noChangeAspect="1"/>
          </p:cNvPicPr>
          <p:nvPr/>
        </p:nvPicPr>
        <p:blipFill>
          <a:blip r:embed="rId6"/>
          <a:stretch>
            <a:fillRect/>
          </a:stretch>
        </p:blipFill>
        <p:spPr>
          <a:xfrm>
            <a:off x="4206240" y="4160520"/>
            <a:ext cx="1554480" cy="1965960"/>
          </a:xfrm>
          <a:prstGeom prst="rect">
            <a:avLst/>
          </a:prstGeom>
        </p:spPr>
      </p:pic>
      <p:sp>
        <p:nvSpPr>
          <p:cNvPr id="15" name="Rounded Rectangle 14"/>
          <p:cNvSpPr/>
          <p:nvPr/>
        </p:nvSpPr>
        <p:spPr>
          <a:xfrm>
            <a:off x="6217920" y="4023360"/>
            <a:ext cx="5212080" cy="2286000"/>
          </a:xfrm>
          <a:prstGeom prst="roundRect">
            <a:avLst/>
          </a:prstGeom>
          <a:solidFill>
            <a:srgbClr val="FFFFFF"/>
          </a:solidFill>
          <a:ln w="1905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6400800" y="4160520"/>
            <a:ext cx="4846320" cy="2011680"/>
          </a:xfrm>
          <a:prstGeom prst="rect">
            <a:avLst/>
          </a:prstGeom>
          <a:noFill/>
        </p:spPr>
        <p:txBody>
          <a:bodyPr wrap="square">
            <a:spAutoFit/>
          </a:bodyPr>
          <a:lstStyle/>
          <a:p>
            <a:pPr>
              <a:defRPr b="1" sz="1200">
                <a:solidFill>
                  <a:srgbClr val="004A99"/>
                </a:solidFill>
              </a:defRPr>
            </a:pPr>
            <a:r>
              <a:t>4. AKSESIBILITAS DISABILITAS &amp; HOTLINE</a:t>
            </a:r>
          </a:p>
          <a:p>
            <a:r>
              <a:t>• Jalur pemandu (ramp kursi roda) di area gedung layanan</a:t>
            </a:r>
          </a:p>
          <a:p>
            <a:r>
              <a:t>• Loket prioritas lansia, ibu hamil, dan difabel</a:t>
            </a:r>
          </a:p>
          <a:p>
            <a:r>
              <a:t>• Telepon: (0283) 351061 | Fax: (0283) 358965</a:t>
            </a:r>
          </a:p>
          <a:p>
            <a:r>
              <a:t>• Email Resmi: ppid@pktj.ac.id | Media Sosial @pktj_tegal</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731520" y="365760"/>
            <a:ext cx="8686800" cy="1005840"/>
          </a:xfrm>
          <a:prstGeom prst="rect">
            <a:avLst/>
          </a:prstGeom>
          <a:noFill/>
        </p:spPr>
        <p:txBody>
          <a:bodyPr wrap="square" lIns="0" tIns="0" rIns="0" bIns="0">
            <a:spAutoFit/>
          </a:bodyPr>
          <a:lstStyle/>
          <a:p>
            <a:pPr>
              <a:defRPr sz="1000" b="1">
                <a:solidFill>
                  <a:srgbClr val="004A99"/>
                </a:solidFill>
                <a:latin typeface="Segoe UI"/>
              </a:defRPr>
            </a:pPr>
            <a:r>
              <a:t>PPID PELAKSANA UPT PKTJ TEGAL</a:t>
            </a:r>
          </a:p>
          <a:p>
            <a:pPr>
              <a:defRPr sz="2200" b="1">
                <a:solidFill>
                  <a:srgbClr val="0B2545"/>
                </a:solidFill>
                <a:latin typeface="Segoe UI"/>
              </a:defRPr>
            </a:pPr>
            <a:r>
              <a:t>JUMLAH PERMOHONAN INFORMASI PUBLIK BULANAN (GRAFIK NIHIL)</a:t>
            </a:r>
          </a:p>
        </p:txBody>
      </p:sp>
      <p:pic>
        <p:nvPicPr>
          <p:cNvPr id="3" name="Picture 2" descr="media_1789460385233.png"/>
          <p:cNvPicPr>
            <a:picLocks noChangeAspect="1"/>
          </p:cNvPicPr>
          <p:nvPr/>
        </p:nvPicPr>
        <p:blipFill>
          <a:blip r:embed="rId2"/>
          <a:stretch>
            <a:fillRect/>
          </a:stretch>
        </p:blipFill>
        <p:spPr>
          <a:xfrm>
            <a:off x="9601200" y="320040"/>
            <a:ext cx="594717" cy="685800"/>
          </a:xfrm>
          <a:prstGeom prst="rect">
            <a:avLst/>
          </a:prstGeom>
        </p:spPr>
      </p:pic>
      <p:pic>
        <p:nvPicPr>
          <p:cNvPr id="4" name="Picture 3" descr="media_1789460385231.png"/>
          <p:cNvPicPr>
            <a:picLocks noChangeAspect="1"/>
          </p:cNvPicPr>
          <p:nvPr/>
        </p:nvPicPr>
        <p:blipFill>
          <a:blip r:embed="rId3"/>
          <a:stretch>
            <a:fillRect/>
          </a:stretch>
        </p:blipFill>
        <p:spPr>
          <a:xfrm>
            <a:off x="10424160" y="411480"/>
            <a:ext cx="755117" cy="502920"/>
          </a:xfrm>
          <a:prstGeom prst="rect">
            <a:avLst/>
          </a:prstGeom>
        </p:spPr>
      </p:pic>
      <p:pic>
        <p:nvPicPr>
          <p:cNvPr id="5" name="Picture 4" descr="media_1789460385272.png"/>
          <p:cNvPicPr>
            <a:picLocks noChangeAspect="1"/>
          </p:cNvPicPr>
          <p:nvPr/>
        </p:nvPicPr>
        <p:blipFill>
          <a:blip r:embed="rId4"/>
          <a:stretch>
            <a:fillRect/>
          </a:stretch>
        </p:blipFill>
        <p:spPr>
          <a:xfrm>
            <a:off x="11247120" y="320040"/>
            <a:ext cx="685130" cy="685800"/>
          </a:xfrm>
          <a:prstGeom prst="rect">
            <a:avLst/>
          </a:prstGeom>
        </p:spPr>
      </p:pic>
      <p:sp>
        <p:nvSpPr>
          <p:cNvPr id="6" name="Rectangle 5"/>
          <p:cNvSpPr/>
          <p:nvPr/>
        </p:nvSpPr>
        <p:spPr>
          <a:xfrm>
            <a:off x="731520" y="1325880"/>
            <a:ext cx="10728655" cy="36576"/>
          </a:xfrm>
          <a:prstGeom prst="rect">
            <a:avLst/>
          </a:prstGeom>
          <a:solidFill>
            <a:srgbClr val="0284C7"/>
          </a:solidFill>
          <a:ln>
            <a:solidFill>
              <a:srgbClr val="0284C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731520" y="1554480"/>
            <a:ext cx="7132320" cy="4754880"/>
          </a:xfrm>
          <a:prstGeom prst="roundRect">
            <a:avLst/>
          </a:prstGeom>
          <a:solidFill>
            <a:srgbClr val="FFFFFF"/>
          </a:solidFill>
          <a:ln w="1905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1097280" y="4572000"/>
            <a:ext cx="6400800" cy="36576"/>
          </a:xfrm>
          <a:prstGeom prst="rect">
            <a:avLst/>
          </a:prstGeom>
          <a:solidFill>
            <a:srgbClr val="64748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777240" y="4434840"/>
            <a:ext cx="274320" cy="365760"/>
          </a:xfrm>
          <a:prstGeom prst="rect">
            <a:avLst/>
          </a:prstGeom>
          <a:noFill/>
        </p:spPr>
        <p:txBody>
          <a:bodyPr wrap="none">
            <a:spAutoFit/>
          </a:bodyPr>
          <a:lstStyle/>
          <a:p>
            <a:pPr>
              <a:defRPr sz="1100" b="1"/>
            </a:pPr>
            <a:r>
              <a:t>0</a:t>
            </a:r>
          </a:p>
        </p:txBody>
      </p:sp>
      <p:sp>
        <p:nvSpPr>
          <p:cNvPr id="10" name="Oval 9"/>
          <p:cNvSpPr/>
          <p:nvPr/>
        </p:nvSpPr>
        <p:spPr>
          <a:xfrm>
            <a:off x="1280160" y="4498848"/>
            <a:ext cx="182880" cy="182880"/>
          </a:xfrm>
          <a:prstGeom prst="ellipse">
            <a:avLst/>
          </a:prstGeom>
          <a:solidFill>
            <a:srgbClr val="004A99"/>
          </a:solidFill>
          <a:ln>
            <a:solidFill>
              <a:srgbClr val="FFB703"/>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1188720" y="4754880"/>
            <a:ext cx="411480" cy="365760"/>
          </a:xfrm>
          <a:prstGeom prst="rect">
            <a:avLst/>
          </a:prstGeom>
          <a:noFill/>
        </p:spPr>
        <p:txBody>
          <a:bodyPr wrap="none">
            <a:spAutoFit/>
          </a:bodyPr>
          <a:lstStyle/>
          <a:p>
            <a:pPr algn="ctr">
              <a:defRPr sz="950">
                <a:solidFill>
                  <a:srgbClr val="1E293B"/>
                </a:solidFill>
              </a:defRPr>
            </a:pPr>
            <a:r>
              <a:t>Jan</a:t>
            </a:r>
          </a:p>
        </p:txBody>
      </p:sp>
      <p:sp>
        <p:nvSpPr>
          <p:cNvPr id="12" name="Oval 11"/>
          <p:cNvSpPr/>
          <p:nvPr/>
        </p:nvSpPr>
        <p:spPr>
          <a:xfrm>
            <a:off x="1810512" y="4498848"/>
            <a:ext cx="182880" cy="182880"/>
          </a:xfrm>
          <a:prstGeom prst="ellipse">
            <a:avLst/>
          </a:prstGeom>
          <a:solidFill>
            <a:srgbClr val="004A99"/>
          </a:solidFill>
          <a:ln>
            <a:solidFill>
              <a:srgbClr val="FFB703"/>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1719072" y="4754880"/>
            <a:ext cx="411480" cy="365760"/>
          </a:xfrm>
          <a:prstGeom prst="rect">
            <a:avLst/>
          </a:prstGeom>
          <a:noFill/>
        </p:spPr>
        <p:txBody>
          <a:bodyPr wrap="none">
            <a:spAutoFit/>
          </a:bodyPr>
          <a:lstStyle/>
          <a:p>
            <a:pPr algn="ctr">
              <a:defRPr sz="950">
                <a:solidFill>
                  <a:srgbClr val="1E293B"/>
                </a:solidFill>
              </a:defRPr>
            </a:pPr>
            <a:r>
              <a:t>Feb</a:t>
            </a:r>
          </a:p>
        </p:txBody>
      </p:sp>
      <p:sp>
        <p:nvSpPr>
          <p:cNvPr id="14" name="Oval 13"/>
          <p:cNvSpPr/>
          <p:nvPr/>
        </p:nvSpPr>
        <p:spPr>
          <a:xfrm>
            <a:off x="2340864" y="4498848"/>
            <a:ext cx="182880" cy="182880"/>
          </a:xfrm>
          <a:prstGeom prst="ellipse">
            <a:avLst/>
          </a:prstGeom>
          <a:solidFill>
            <a:srgbClr val="004A99"/>
          </a:solidFill>
          <a:ln>
            <a:solidFill>
              <a:srgbClr val="FFB703"/>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2249424" y="4754880"/>
            <a:ext cx="411480" cy="365760"/>
          </a:xfrm>
          <a:prstGeom prst="rect">
            <a:avLst/>
          </a:prstGeom>
          <a:noFill/>
        </p:spPr>
        <p:txBody>
          <a:bodyPr wrap="none">
            <a:spAutoFit/>
          </a:bodyPr>
          <a:lstStyle/>
          <a:p>
            <a:pPr algn="ctr">
              <a:defRPr sz="950">
                <a:solidFill>
                  <a:srgbClr val="1E293B"/>
                </a:solidFill>
              </a:defRPr>
            </a:pPr>
            <a:r>
              <a:t>Mar</a:t>
            </a:r>
          </a:p>
        </p:txBody>
      </p:sp>
      <p:sp>
        <p:nvSpPr>
          <p:cNvPr id="16" name="Oval 15"/>
          <p:cNvSpPr/>
          <p:nvPr/>
        </p:nvSpPr>
        <p:spPr>
          <a:xfrm>
            <a:off x="2871215" y="4498848"/>
            <a:ext cx="182880" cy="182880"/>
          </a:xfrm>
          <a:prstGeom prst="ellipse">
            <a:avLst/>
          </a:prstGeom>
          <a:solidFill>
            <a:srgbClr val="004A99"/>
          </a:solidFill>
          <a:ln>
            <a:solidFill>
              <a:srgbClr val="FFB703"/>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2779775" y="4754880"/>
            <a:ext cx="411480" cy="365760"/>
          </a:xfrm>
          <a:prstGeom prst="rect">
            <a:avLst/>
          </a:prstGeom>
          <a:noFill/>
        </p:spPr>
        <p:txBody>
          <a:bodyPr wrap="none">
            <a:spAutoFit/>
          </a:bodyPr>
          <a:lstStyle/>
          <a:p>
            <a:pPr algn="ctr">
              <a:defRPr sz="950">
                <a:solidFill>
                  <a:srgbClr val="1E293B"/>
                </a:solidFill>
              </a:defRPr>
            </a:pPr>
            <a:r>
              <a:t>Apr</a:t>
            </a:r>
          </a:p>
        </p:txBody>
      </p:sp>
      <p:sp>
        <p:nvSpPr>
          <p:cNvPr id="18" name="Oval 17"/>
          <p:cNvSpPr/>
          <p:nvPr/>
        </p:nvSpPr>
        <p:spPr>
          <a:xfrm>
            <a:off x="3401568" y="4498848"/>
            <a:ext cx="182880" cy="182880"/>
          </a:xfrm>
          <a:prstGeom prst="ellipse">
            <a:avLst/>
          </a:prstGeom>
          <a:solidFill>
            <a:srgbClr val="004A99"/>
          </a:solidFill>
          <a:ln>
            <a:solidFill>
              <a:srgbClr val="FFB703"/>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3310128" y="4754880"/>
            <a:ext cx="411480" cy="365760"/>
          </a:xfrm>
          <a:prstGeom prst="rect">
            <a:avLst/>
          </a:prstGeom>
          <a:noFill/>
        </p:spPr>
        <p:txBody>
          <a:bodyPr wrap="none">
            <a:spAutoFit/>
          </a:bodyPr>
          <a:lstStyle/>
          <a:p>
            <a:pPr algn="ctr">
              <a:defRPr sz="950">
                <a:solidFill>
                  <a:srgbClr val="1E293B"/>
                </a:solidFill>
              </a:defRPr>
            </a:pPr>
            <a:r>
              <a:t>Mei</a:t>
            </a:r>
          </a:p>
        </p:txBody>
      </p:sp>
      <p:sp>
        <p:nvSpPr>
          <p:cNvPr id="20" name="Oval 19"/>
          <p:cNvSpPr/>
          <p:nvPr/>
        </p:nvSpPr>
        <p:spPr>
          <a:xfrm>
            <a:off x="3931920" y="4498848"/>
            <a:ext cx="182880" cy="182880"/>
          </a:xfrm>
          <a:prstGeom prst="ellipse">
            <a:avLst/>
          </a:prstGeom>
          <a:solidFill>
            <a:srgbClr val="004A99"/>
          </a:solidFill>
          <a:ln>
            <a:solidFill>
              <a:srgbClr val="FFB703"/>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3840480" y="4754880"/>
            <a:ext cx="411480" cy="365760"/>
          </a:xfrm>
          <a:prstGeom prst="rect">
            <a:avLst/>
          </a:prstGeom>
          <a:noFill/>
        </p:spPr>
        <p:txBody>
          <a:bodyPr wrap="none">
            <a:spAutoFit/>
          </a:bodyPr>
          <a:lstStyle/>
          <a:p>
            <a:pPr algn="ctr">
              <a:defRPr sz="950">
                <a:solidFill>
                  <a:srgbClr val="1E293B"/>
                </a:solidFill>
              </a:defRPr>
            </a:pPr>
            <a:r>
              <a:t>Jun</a:t>
            </a:r>
          </a:p>
        </p:txBody>
      </p:sp>
      <p:sp>
        <p:nvSpPr>
          <p:cNvPr id="22" name="Oval 21"/>
          <p:cNvSpPr/>
          <p:nvPr/>
        </p:nvSpPr>
        <p:spPr>
          <a:xfrm>
            <a:off x="4462271" y="4498848"/>
            <a:ext cx="182880" cy="182880"/>
          </a:xfrm>
          <a:prstGeom prst="ellipse">
            <a:avLst/>
          </a:prstGeom>
          <a:solidFill>
            <a:srgbClr val="004A99"/>
          </a:solidFill>
          <a:ln>
            <a:solidFill>
              <a:srgbClr val="FFB703"/>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4370831" y="4754880"/>
            <a:ext cx="411480" cy="365760"/>
          </a:xfrm>
          <a:prstGeom prst="rect">
            <a:avLst/>
          </a:prstGeom>
          <a:noFill/>
        </p:spPr>
        <p:txBody>
          <a:bodyPr wrap="none">
            <a:spAutoFit/>
          </a:bodyPr>
          <a:lstStyle/>
          <a:p>
            <a:pPr algn="ctr">
              <a:defRPr sz="950">
                <a:solidFill>
                  <a:srgbClr val="1E293B"/>
                </a:solidFill>
              </a:defRPr>
            </a:pPr>
            <a:r>
              <a:t>Jul</a:t>
            </a:r>
          </a:p>
        </p:txBody>
      </p:sp>
      <p:sp>
        <p:nvSpPr>
          <p:cNvPr id="24" name="Oval 23"/>
          <p:cNvSpPr/>
          <p:nvPr/>
        </p:nvSpPr>
        <p:spPr>
          <a:xfrm>
            <a:off x="4992623" y="4498848"/>
            <a:ext cx="182880" cy="182880"/>
          </a:xfrm>
          <a:prstGeom prst="ellipse">
            <a:avLst/>
          </a:prstGeom>
          <a:solidFill>
            <a:srgbClr val="004A99"/>
          </a:solidFill>
          <a:ln>
            <a:solidFill>
              <a:srgbClr val="FFB703"/>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4901183" y="4754880"/>
            <a:ext cx="411480" cy="365760"/>
          </a:xfrm>
          <a:prstGeom prst="rect">
            <a:avLst/>
          </a:prstGeom>
          <a:noFill/>
        </p:spPr>
        <p:txBody>
          <a:bodyPr wrap="none">
            <a:spAutoFit/>
          </a:bodyPr>
          <a:lstStyle/>
          <a:p>
            <a:pPr algn="ctr">
              <a:defRPr sz="950">
                <a:solidFill>
                  <a:srgbClr val="1E293B"/>
                </a:solidFill>
              </a:defRPr>
            </a:pPr>
            <a:r>
              <a:t>Ags</a:t>
            </a:r>
          </a:p>
        </p:txBody>
      </p:sp>
      <p:sp>
        <p:nvSpPr>
          <p:cNvPr id="26" name="Oval 25"/>
          <p:cNvSpPr/>
          <p:nvPr/>
        </p:nvSpPr>
        <p:spPr>
          <a:xfrm>
            <a:off x="5522975" y="4498848"/>
            <a:ext cx="182880" cy="182880"/>
          </a:xfrm>
          <a:prstGeom prst="ellipse">
            <a:avLst/>
          </a:prstGeom>
          <a:solidFill>
            <a:srgbClr val="004A99"/>
          </a:solidFill>
          <a:ln>
            <a:solidFill>
              <a:srgbClr val="FFB703"/>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5431535" y="4754880"/>
            <a:ext cx="411480" cy="365760"/>
          </a:xfrm>
          <a:prstGeom prst="rect">
            <a:avLst/>
          </a:prstGeom>
          <a:noFill/>
        </p:spPr>
        <p:txBody>
          <a:bodyPr wrap="none">
            <a:spAutoFit/>
          </a:bodyPr>
          <a:lstStyle/>
          <a:p>
            <a:pPr algn="ctr">
              <a:defRPr sz="950">
                <a:solidFill>
                  <a:srgbClr val="1E293B"/>
                </a:solidFill>
              </a:defRPr>
            </a:pPr>
            <a:r>
              <a:t>Sep</a:t>
            </a:r>
          </a:p>
        </p:txBody>
      </p:sp>
      <p:sp>
        <p:nvSpPr>
          <p:cNvPr id="28" name="Oval 27"/>
          <p:cNvSpPr/>
          <p:nvPr/>
        </p:nvSpPr>
        <p:spPr>
          <a:xfrm>
            <a:off x="6053327" y="4498848"/>
            <a:ext cx="182880" cy="182880"/>
          </a:xfrm>
          <a:prstGeom prst="ellipse">
            <a:avLst/>
          </a:prstGeom>
          <a:solidFill>
            <a:srgbClr val="004A99"/>
          </a:solidFill>
          <a:ln>
            <a:solidFill>
              <a:srgbClr val="FFB703"/>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5961887" y="4754880"/>
            <a:ext cx="411480" cy="365760"/>
          </a:xfrm>
          <a:prstGeom prst="rect">
            <a:avLst/>
          </a:prstGeom>
          <a:noFill/>
        </p:spPr>
        <p:txBody>
          <a:bodyPr wrap="none">
            <a:spAutoFit/>
          </a:bodyPr>
          <a:lstStyle/>
          <a:p>
            <a:pPr algn="ctr">
              <a:defRPr sz="950">
                <a:solidFill>
                  <a:srgbClr val="1E293B"/>
                </a:solidFill>
              </a:defRPr>
            </a:pPr>
            <a:r>
              <a:t>Okt</a:t>
            </a:r>
          </a:p>
        </p:txBody>
      </p:sp>
      <p:sp>
        <p:nvSpPr>
          <p:cNvPr id="30" name="Oval 29"/>
          <p:cNvSpPr/>
          <p:nvPr/>
        </p:nvSpPr>
        <p:spPr>
          <a:xfrm>
            <a:off x="6583679" y="4498848"/>
            <a:ext cx="182880" cy="182880"/>
          </a:xfrm>
          <a:prstGeom prst="ellipse">
            <a:avLst/>
          </a:prstGeom>
          <a:solidFill>
            <a:srgbClr val="004A99"/>
          </a:solidFill>
          <a:ln>
            <a:solidFill>
              <a:srgbClr val="FFB703"/>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6492239" y="4754880"/>
            <a:ext cx="411480" cy="365760"/>
          </a:xfrm>
          <a:prstGeom prst="rect">
            <a:avLst/>
          </a:prstGeom>
          <a:noFill/>
        </p:spPr>
        <p:txBody>
          <a:bodyPr wrap="none">
            <a:spAutoFit/>
          </a:bodyPr>
          <a:lstStyle/>
          <a:p>
            <a:pPr algn="ctr">
              <a:defRPr sz="950">
                <a:solidFill>
                  <a:srgbClr val="1E293B"/>
                </a:solidFill>
              </a:defRPr>
            </a:pPr>
            <a:r>
              <a:t>Nov</a:t>
            </a:r>
          </a:p>
        </p:txBody>
      </p:sp>
      <p:sp>
        <p:nvSpPr>
          <p:cNvPr id="32" name="Oval 31"/>
          <p:cNvSpPr/>
          <p:nvPr/>
        </p:nvSpPr>
        <p:spPr>
          <a:xfrm>
            <a:off x="7114032" y="4498848"/>
            <a:ext cx="182880" cy="182880"/>
          </a:xfrm>
          <a:prstGeom prst="ellipse">
            <a:avLst/>
          </a:prstGeom>
          <a:solidFill>
            <a:srgbClr val="004A99"/>
          </a:solidFill>
          <a:ln>
            <a:solidFill>
              <a:srgbClr val="FFB703"/>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TextBox 32"/>
          <p:cNvSpPr txBox="1"/>
          <p:nvPr/>
        </p:nvSpPr>
        <p:spPr>
          <a:xfrm>
            <a:off x="7022592" y="4754880"/>
            <a:ext cx="411480" cy="365760"/>
          </a:xfrm>
          <a:prstGeom prst="rect">
            <a:avLst/>
          </a:prstGeom>
          <a:noFill/>
        </p:spPr>
        <p:txBody>
          <a:bodyPr wrap="none">
            <a:spAutoFit/>
          </a:bodyPr>
          <a:lstStyle/>
          <a:p>
            <a:pPr algn="ctr">
              <a:defRPr sz="950">
                <a:solidFill>
                  <a:srgbClr val="1E293B"/>
                </a:solidFill>
              </a:defRPr>
            </a:pPr>
            <a:r>
              <a:t>Des</a:t>
            </a:r>
          </a:p>
        </p:txBody>
      </p:sp>
      <p:sp>
        <p:nvSpPr>
          <p:cNvPr id="34" name="TextBox 33"/>
          <p:cNvSpPr txBox="1"/>
          <p:nvPr/>
        </p:nvSpPr>
        <p:spPr>
          <a:xfrm>
            <a:off x="1097280" y="5120640"/>
            <a:ext cx="6400800" cy="1005840"/>
          </a:xfrm>
          <a:prstGeom prst="rect">
            <a:avLst/>
          </a:prstGeom>
          <a:noFill/>
        </p:spPr>
        <p:txBody>
          <a:bodyPr wrap="square">
            <a:spAutoFit/>
          </a:bodyPr>
          <a:lstStyle/>
          <a:p>
            <a:pPr>
              <a:defRPr b="1" sz="1300">
                <a:solidFill>
                  <a:srgbClr val="004A99"/>
                </a:solidFill>
              </a:defRPr>
            </a:pPr>
            <a:r>
              <a:t>TOTAL PERMOHONAN INFORMASI TAHUNAN: 0 (NIHIL)</a:t>
            </a:r>
          </a:p>
          <a:p>
            <a:r>
              <a:t>Permohonan Ditolak: 0 | Permohonan Keberatan: 0 | Sengketa Informasi Publik: 0</a:t>
            </a:r>
          </a:p>
        </p:txBody>
      </p:sp>
      <p:sp>
        <p:nvSpPr>
          <p:cNvPr id="35" name="Rounded Rectangle 34"/>
          <p:cNvSpPr/>
          <p:nvPr/>
        </p:nvSpPr>
        <p:spPr>
          <a:xfrm>
            <a:off x="8138160" y="1554480"/>
            <a:ext cx="3291840" cy="4754880"/>
          </a:xfrm>
          <a:prstGeom prst="roundRect">
            <a:avLst/>
          </a:prstGeom>
          <a:solidFill>
            <a:srgbClr val="0B2545"/>
          </a:solidFill>
          <a:ln w="19050">
            <a:solidFill>
              <a:srgbClr val="FFB703"/>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TextBox 35"/>
          <p:cNvSpPr txBox="1"/>
          <p:nvPr/>
        </p:nvSpPr>
        <p:spPr>
          <a:xfrm>
            <a:off x="8321040" y="1737360"/>
            <a:ext cx="2926080" cy="4389120"/>
          </a:xfrm>
          <a:prstGeom prst="rect">
            <a:avLst/>
          </a:prstGeom>
          <a:noFill/>
        </p:spPr>
        <p:txBody>
          <a:bodyPr wrap="square">
            <a:spAutoFit/>
          </a:bodyPr>
          <a:lstStyle/>
          <a:p>
            <a:pPr>
              <a:spcAft>
                <a:spcPts val="1000"/>
              </a:spcAft>
              <a:defRPr b="1" sz="1300">
                <a:solidFill>
                  <a:srgbClr val="FFB703"/>
                </a:solidFill>
              </a:defRPr>
            </a:pPr>
            <a:r>
              <a:t>ANALISIS STATUS NIHIL</a:t>
            </a:r>
          </a:p>
          <a:p>
            <a:pPr>
              <a:defRPr b="1" sz="1050">
                <a:solidFill>
                  <a:srgbClr val="FFFFFF"/>
                </a:solidFill>
              </a:defRPr>
            </a:pPr>
            <a:r>
              <a:t>★ Transparansi Proaktif Mandiri</a:t>
            </a:r>
          </a:p>
          <a:p>
            <a:pPr>
              <a:spcAft>
                <a:spcPts val="800"/>
              </a:spcAft>
              <a:defRPr sz="950">
                <a:solidFill>
                  <a:srgbClr val="E2E8F0"/>
                </a:solidFill>
              </a:defRPr>
            </a:pPr>
            <a:r>
              <a:t>Seluruh dokumen Daftar Informasi Publik (DIP) 2026, Profil Pejabat, RKT, DIPA, Laporan Keuangan, dan Statistik Kepegawaian telah diunggah terbuka di portal ppid.pktj.ac.id, sehingga publik dapat mengunduh langsung secara mandiri.</a:t>
            </a:r>
          </a:p>
          <a:p>
            <a:pPr>
              <a:defRPr b="1" sz="1050">
                <a:solidFill>
                  <a:srgbClr val="FFFFFF"/>
                </a:solidFill>
              </a:defRPr>
            </a:pPr>
            <a:r>
              <a:t>★ Efisiensi Akses Tanpa Antrean</a:t>
            </a:r>
          </a:p>
          <a:p>
            <a:pPr>
              <a:spcAft>
                <a:spcPts val="800"/>
              </a:spcAft>
              <a:defRPr sz="950">
                <a:solidFill>
                  <a:srgbClr val="E2E8F0"/>
                </a:solidFill>
              </a:defRPr>
            </a:pPr>
            <a:r>
              <a:t>Tersedianya tautan dokumen resmi Google Drive dan portal BPSDM/Kemenhub meniadakan hambatan akses dokumen.</a:t>
            </a:r>
          </a:p>
          <a:p>
            <a:pPr>
              <a:defRPr b="1" sz="1050">
                <a:solidFill>
                  <a:srgbClr val="FFFFFF"/>
                </a:solidFill>
              </a:defRPr>
            </a:pPr>
            <a:r>
              <a:t>★ Nihil Sengketa Informasi</a:t>
            </a:r>
          </a:p>
          <a:p>
            <a:pPr>
              <a:spcAft>
                <a:spcPts val="800"/>
              </a:spcAft>
              <a:defRPr sz="950">
                <a:solidFill>
                  <a:srgbClr val="E2E8F0"/>
                </a:solidFill>
              </a:defRPr>
            </a:pPr>
            <a:r>
              <a:t>Sepanjang tahun berjalan, tidak ada sengketa informasi publik yang diajukan ke Komisi Informasi Pusat/Provinsi (100% Clean Record).</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731520" y="365760"/>
            <a:ext cx="8686800" cy="1005840"/>
          </a:xfrm>
          <a:prstGeom prst="rect">
            <a:avLst/>
          </a:prstGeom>
          <a:noFill/>
        </p:spPr>
        <p:txBody>
          <a:bodyPr wrap="square" lIns="0" tIns="0" rIns="0" bIns="0">
            <a:spAutoFit/>
          </a:bodyPr>
          <a:lstStyle/>
          <a:p>
            <a:pPr>
              <a:defRPr sz="1000" b="1">
                <a:solidFill>
                  <a:srgbClr val="004A99"/>
                </a:solidFill>
                <a:latin typeface="Segoe UI"/>
              </a:defRPr>
            </a:pPr>
            <a:r>
              <a:t>PPID PELAKSANA UPT PKTJ TEGAL</a:t>
            </a:r>
          </a:p>
          <a:p>
            <a:pPr>
              <a:defRPr sz="2200" b="1">
                <a:solidFill>
                  <a:srgbClr val="0B2545"/>
                </a:solidFill>
                <a:latin typeface="Segoe UI"/>
              </a:defRPr>
            </a:pPr>
            <a:r>
              <a:t>REKAPITULASI PERMOHONAN INFORMASI &amp; PENGADUAN PER BULAN</a:t>
            </a:r>
          </a:p>
        </p:txBody>
      </p:sp>
      <p:pic>
        <p:nvPicPr>
          <p:cNvPr id="3" name="Picture 2" descr="media_1789460385233.png"/>
          <p:cNvPicPr>
            <a:picLocks noChangeAspect="1"/>
          </p:cNvPicPr>
          <p:nvPr/>
        </p:nvPicPr>
        <p:blipFill>
          <a:blip r:embed="rId2"/>
          <a:stretch>
            <a:fillRect/>
          </a:stretch>
        </p:blipFill>
        <p:spPr>
          <a:xfrm>
            <a:off x="9601200" y="320040"/>
            <a:ext cx="594717" cy="685800"/>
          </a:xfrm>
          <a:prstGeom prst="rect">
            <a:avLst/>
          </a:prstGeom>
        </p:spPr>
      </p:pic>
      <p:pic>
        <p:nvPicPr>
          <p:cNvPr id="4" name="Picture 3" descr="media_1789460385231.png"/>
          <p:cNvPicPr>
            <a:picLocks noChangeAspect="1"/>
          </p:cNvPicPr>
          <p:nvPr/>
        </p:nvPicPr>
        <p:blipFill>
          <a:blip r:embed="rId3"/>
          <a:stretch>
            <a:fillRect/>
          </a:stretch>
        </p:blipFill>
        <p:spPr>
          <a:xfrm>
            <a:off x="10424160" y="411480"/>
            <a:ext cx="755117" cy="502920"/>
          </a:xfrm>
          <a:prstGeom prst="rect">
            <a:avLst/>
          </a:prstGeom>
        </p:spPr>
      </p:pic>
      <p:pic>
        <p:nvPicPr>
          <p:cNvPr id="5" name="Picture 4" descr="media_1789460385272.png"/>
          <p:cNvPicPr>
            <a:picLocks noChangeAspect="1"/>
          </p:cNvPicPr>
          <p:nvPr/>
        </p:nvPicPr>
        <p:blipFill>
          <a:blip r:embed="rId4"/>
          <a:stretch>
            <a:fillRect/>
          </a:stretch>
        </p:blipFill>
        <p:spPr>
          <a:xfrm>
            <a:off x="11247120" y="320040"/>
            <a:ext cx="685130" cy="685800"/>
          </a:xfrm>
          <a:prstGeom prst="rect">
            <a:avLst/>
          </a:prstGeom>
        </p:spPr>
      </p:pic>
      <p:sp>
        <p:nvSpPr>
          <p:cNvPr id="6" name="Rectangle 5"/>
          <p:cNvSpPr/>
          <p:nvPr/>
        </p:nvSpPr>
        <p:spPr>
          <a:xfrm>
            <a:off x="731520" y="1325880"/>
            <a:ext cx="10728655" cy="36576"/>
          </a:xfrm>
          <a:prstGeom prst="rect">
            <a:avLst/>
          </a:prstGeom>
          <a:solidFill>
            <a:srgbClr val="0284C7"/>
          </a:solidFill>
          <a:ln>
            <a:solidFill>
              <a:srgbClr val="0284C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graphicFrame>
        <p:nvGraphicFramePr>
          <p:cNvPr id="7" name="Table 6"/>
          <p:cNvGraphicFramePr>
            <a:graphicFrameLocks noGrp="1"/>
          </p:cNvGraphicFramePr>
          <p:nvPr/>
        </p:nvGraphicFramePr>
        <p:xfrm>
          <a:off x="731520" y="1554480"/>
          <a:ext cx="10728655" cy="4754880"/>
        </p:xfrm>
        <a:graphic>
          <a:graphicData uri="http://schemas.openxmlformats.org/drawingml/2006/table">
            <a:tbl>
              <a:tblPr firstRow="1" bandRow="1">
                <a:tableStyleId>{5C22544A-7EE6-4342-B048-85BDC9FD1C3A}</a:tableStyleId>
              </a:tblPr>
              <a:tblGrid>
                <a:gridCol w="2011680"/>
                <a:gridCol w="1737360"/>
                <a:gridCol w="1737360"/>
                <a:gridCol w="1737360"/>
                <a:gridCol w="1737360"/>
                <a:gridCol w="1767535"/>
              </a:tblGrid>
              <a:tr h="339634">
                <a:tc>
                  <a:txBody>
                    <a:bodyPr/>
                    <a:lstStyle/>
                    <a:p>
                      <a:pPr algn="ctr">
                        <a:defRPr b="1" sz="1050">
                          <a:solidFill>
                            <a:srgbClr val="FFFFFF"/>
                          </a:solidFill>
                        </a:defRPr>
                      </a:pPr>
                      <a:r>
                        <a:t>Bulan</a:t>
                      </a:r>
                    </a:p>
                  </a:txBody>
                  <a:tcPr>
                    <a:solidFill>
                      <a:srgbClr val="0B2545"/>
                    </a:solidFill>
                  </a:tcPr>
                </a:tc>
                <a:tc>
                  <a:txBody>
                    <a:bodyPr/>
                    <a:lstStyle/>
                    <a:p>
                      <a:pPr algn="ctr">
                        <a:defRPr b="1" sz="1050">
                          <a:solidFill>
                            <a:srgbClr val="FFFFFF"/>
                          </a:solidFill>
                        </a:defRPr>
                      </a:pPr>
                      <a:r>
                        <a:t>Permohonan Masuk</a:t>
                      </a:r>
                    </a:p>
                  </a:txBody>
                  <a:tcPr>
                    <a:solidFill>
                      <a:srgbClr val="0B2545"/>
                    </a:solidFill>
                  </a:tcPr>
                </a:tc>
                <a:tc>
                  <a:txBody>
                    <a:bodyPr/>
                    <a:lstStyle/>
                    <a:p>
                      <a:pPr algn="ctr">
                        <a:defRPr b="1" sz="1050">
                          <a:solidFill>
                            <a:srgbClr val="FFFFFF"/>
                          </a:solidFill>
                        </a:defRPr>
                      </a:pPr>
                      <a:r>
                        <a:t>Dipenuhi (100%)</a:t>
                      </a:r>
                    </a:p>
                  </a:txBody>
                  <a:tcPr>
                    <a:solidFill>
                      <a:srgbClr val="0B2545"/>
                    </a:solidFill>
                  </a:tcPr>
                </a:tc>
                <a:tc>
                  <a:txBody>
                    <a:bodyPr/>
                    <a:lstStyle/>
                    <a:p>
                      <a:pPr algn="ctr">
                        <a:defRPr b="1" sz="1050">
                          <a:solidFill>
                            <a:srgbClr val="FFFFFF"/>
                          </a:solidFill>
                        </a:defRPr>
                      </a:pPr>
                      <a:r>
                        <a:t>Ditolak</a:t>
                      </a:r>
                    </a:p>
                  </a:txBody>
                  <a:tcPr>
                    <a:solidFill>
                      <a:srgbClr val="0B2545"/>
                    </a:solidFill>
                  </a:tcPr>
                </a:tc>
                <a:tc>
                  <a:txBody>
                    <a:bodyPr/>
                    <a:lstStyle/>
                    <a:p>
                      <a:pPr algn="ctr">
                        <a:defRPr b="1" sz="1050">
                          <a:solidFill>
                            <a:srgbClr val="FFFFFF"/>
                          </a:solidFill>
                        </a:defRPr>
                      </a:pPr>
                      <a:r>
                        <a:t>Pengaduan SP4N</a:t>
                      </a:r>
                    </a:p>
                  </a:txBody>
                  <a:tcPr>
                    <a:solidFill>
                      <a:srgbClr val="0B2545"/>
                    </a:solidFill>
                  </a:tcPr>
                </a:tc>
                <a:tc>
                  <a:txBody>
                    <a:bodyPr/>
                    <a:lstStyle/>
                    <a:p>
                      <a:pPr algn="ctr">
                        <a:defRPr b="1" sz="1050">
                          <a:solidFill>
                            <a:srgbClr val="FFFFFF"/>
                          </a:solidFill>
                        </a:defRPr>
                      </a:pPr>
                      <a:r>
                        <a:t>Status Kinerja</a:t>
                      </a:r>
                    </a:p>
                  </a:txBody>
                  <a:tcPr>
                    <a:solidFill>
                      <a:srgbClr val="0B2545"/>
                    </a:solidFill>
                  </a:tcPr>
                </a:tc>
              </a:tr>
              <a:tr h="339634">
                <a:tc>
                  <a:txBody>
                    <a:bodyPr/>
                    <a:lstStyle/>
                    <a:p>
                      <a:pPr algn="l">
                        <a:defRPr sz="950">
                          <a:solidFill>
                            <a:srgbClr val="1E293B"/>
                          </a:solidFill>
                        </a:defRPr>
                      </a:pPr>
                      <a:r>
                        <a:t>Januari</a:t>
                      </a:r>
                    </a:p>
                  </a:txBody>
                  <a:tcPr>
                    <a:solidFill>
                      <a:srgbClr val="FFFFFF"/>
                    </a:solidFill>
                  </a:tcPr>
                </a:tc>
                <a:tc>
                  <a:txBody>
                    <a:bodyPr/>
                    <a:lstStyle/>
                    <a:p>
                      <a:pPr algn="ctr">
                        <a:defRPr sz="950">
                          <a:solidFill>
                            <a:srgbClr val="1E293B"/>
                          </a:solidFill>
                        </a:defRPr>
                      </a:pPr>
                      <a:r>
                        <a:t>0</a:t>
                      </a:r>
                    </a:p>
                  </a:txBody>
                  <a:tcPr>
                    <a:solidFill>
                      <a:srgbClr val="FFFFFF"/>
                    </a:solidFill>
                  </a:tcPr>
                </a:tc>
                <a:tc>
                  <a:txBody>
                    <a:bodyPr/>
                    <a:lstStyle/>
                    <a:p>
                      <a:pPr algn="ctr">
                        <a:defRPr sz="950">
                          <a:solidFill>
                            <a:srgbClr val="1E293B"/>
                          </a:solidFill>
                        </a:defRPr>
                      </a:pPr>
                      <a:r>
                        <a:t>0</a:t>
                      </a:r>
                    </a:p>
                  </a:txBody>
                  <a:tcPr>
                    <a:solidFill>
                      <a:srgbClr val="FFFFFF"/>
                    </a:solidFill>
                  </a:tcPr>
                </a:tc>
                <a:tc>
                  <a:txBody>
                    <a:bodyPr/>
                    <a:lstStyle/>
                    <a:p>
                      <a:pPr algn="ctr">
                        <a:defRPr sz="950">
                          <a:solidFill>
                            <a:srgbClr val="1E293B"/>
                          </a:solidFill>
                        </a:defRPr>
                      </a:pPr>
                      <a:r>
                        <a:t>0</a:t>
                      </a:r>
                    </a:p>
                  </a:txBody>
                  <a:tcPr>
                    <a:solidFill>
                      <a:srgbClr val="FFFFFF"/>
                    </a:solidFill>
                  </a:tcPr>
                </a:tc>
                <a:tc>
                  <a:txBody>
                    <a:bodyPr/>
                    <a:lstStyle/>
                    <a:p>
                      <a:pPr algn="ctr">
                        <a:defRPr sz="950">
                          <a:solidFill>
                            <a:srgbClr val="1E293B"/>
                          </a:solidFill>
                        </a:defRPr>
                      </a:pPr>
                      <a:r>
                        <a:t>0</a:t>
                      </a:r>
                    </a:p>
                  </a:txBody>
                  <a:tcPr>
                    <a:solidFill>
                      <a:srgbClr val="FFFFFF"/>
                    </a:solidFill>
                  </a:tcPr>
                </a:tc>
                <a:tc>
                  <a:txBody>
                    <a:bodyPr/>
                    <a:lstStyle/>
                    <a:p>
                      <a:pPr algn="ctr">
                        <a:defRPr sz="950">
                          <a:solidFill>
                            <a:srgbClr val="1E293B"/>
                          </a:solidFill>
                        </a:defRPr>
                      </a:pPr>
                      <a:r>
                        <a:t>Tuntas / Nihil</a:t>
                      </a:r>
                    </a:p>
                  </a:txBody>
                  <a:tcPr>
                    <a:solidFill>
                      <a:srgbClr val="FFFFFF"/>
                    </a:solidFill>
                  </a:tcPr>
                </a:tc>
              </a:tr>
              <a:tr h="339634">
                <a:tc>
                  <a:txBody>
                    <a:bodyPr/>
                    <a:lstStyle/>
                    <a:p>
                      <a:pPr algn="l">
                        <a:defRPr sz="950">
                          <a:solidFill>
                            <a:srgbClr val="1E293B"/>
                          </a:solidFill>
                        </a:defRPr>
                      </a:pPr>
                      <a:r>
                        <a:t>Februari</a:t>
                      </a:r>
                    </a:p>
                  </a:txBody>
                  <a:tcPr>
                    <a:solidFill>
                      <a:srgbClr val="F5F7FA"/>
                    </a:solidFill>
                  </a:tcPr>
                </a:tc>
                <a:tc>
                  <a:txBody>
                    <a:bodyPr/>
                    <a:lstStyle/>
                    <a:p>
                      <a:pPr algn="ctr">
                        <a:defRPr sz="950">
                          <a:solidFill>
                            <a:srgbClr val="1E293B"/>
                          </a:solidFill>
                        </a:defRPr>
                      </a:pPr>
                      <a:r>
                        <a:t>0</a:t>
                      </a:r>
                    </a:p>
                  </a:txBody>
                  <a:tcPr>
                    <a:solidFill>
                      <a:srgbClr val="F5F7FA"/>
                    </a:solidFill>
                  </a:tcPr>
                </a:tc>
                <a:tc>
                  <a:txBody>
                    <a:bodyPr/>
                    <a:lstStyle/>
                    <a:p>
                      <a:pPr algn="ctr">
                        <a:defRPr sz="950">
                          <a:solidFill>
                            <a:srgbClr val="1E293B"/>
                          </a:solidFill>
                        </a:defRPr>
                      </a:pPr>
                      <a:r>
                        <a:t>0</a:t>
                      </a:r>
                    </a:p>
                  </a:txBody>
                  <a:tcPr>
                    <a:solidFill>
                      <a:srgbClr val="F5F7FA"/>
                    </a:solidFill>
                  </a:tcPr>
                </a:tc>
                <a:tc>
                  <a:txBody>
                    <a:bodyPr/>
                    <a:lstStyle/>
                    <a:p>
                      <a:pPr algn="ctr">
                        <a:defRPr sz="950">
                          <a:solidFill>
                            <a:srgbClr val="1E293B"/>
                          </a:solidFill>
                        </a:defRPr>
                      </a:pPr>
                      <a:r>
                        <a:t>0</a:t>
                      </a:r>
                    </a:p>
                  </a:txBody>
                  <a:tcPr>
                    <a:solidFill>
                      <a:srgbClr val="F5F7FA"/>
                    </a:solidFill>
                  </a:tcPr>
                </a:tc>
                <a:tc>
                  <a:txBody>
                    <a:bodyPr/>
                    <a:lstStyle/>
                    <a:p>
                      <a:pPr algn="ctr">
                        <a:defRPr sz="950">
                          <a:solidFill>
                            <a:srgbClr val="1E293B"/>
                          </a:solidFill>
                        </a:defRPr>
                      </a:pPr>
                      <a:r>
                        <a:t>0</a:t>
                      </a:r>
                    </a:p>
                  </a:txBody>
                  <a:tcPr>
                    <a:solidFill>
                      <a:srgbClr val="F5F7FA"/>
                    </a:solidFill>
                  </a:tcPr>
                </a:tc>
                <a:tc>
                  <a:txBody>
                    <a:bodyPr/>
                    <a:lstStyle/>
                    <a:p>
                      <a:pPr algn="ctr">
                        <a:defRPr sz="950">
                          <a:solidFill>
                            <a:srgbClr val="1E293B"/>
                          </a:solidFill>
                        </a:defRPr>
                      </a:pPr>
                      <a:r>
                        <a:t>Tuntas / Nihil</a:t>
                      </a:r>
                    </a:p>
                  </a:txBody>
                  <a:tcPr>
                    <a:solidFill>
                      <a:srgbClr val="F5F7FA"/>
                    </a:solidFill>
                  </a:tcPr>
                </a:tc>
              </a:tr>
              <a:tr h="339634">
                <a:tc>
                  <a:txBody>
                    <a:bodyPr/>
                    <a:lstStyle/>
                    <a:p>
                      <a:pPr algn="l">
                        <a:defRPr sz="950">
                          <a:solidFill>
                            <a:srgbClr val="1E293B"/>
                          </a:solidFill>
                        </a:defRPr>
                      </a:pPr>
                      <a:r>
                        <a:t>Maret</a:t>
                      </a:r>
                    </a:p>
                  </a:txBody>
                  <a:tcPr>
                    <a:solidFill>
                      <a:srgbClr val="FFFFFF"/>
                    </a:solidFill>
                  </a:tcPr>
                </a:tc>
                <a:tc>
                  <a:txBody>
                    <a:bodyPr/>
                    <a:lstStyle/>
                    <a:p>
                      <a:pPr algn="ctr">
                        <a:defRPr sz="950">
                          <a:solidFill>
                            <a:srgbClr val="1E293B"/>
                          </a:solidFill>
                        </a:defRPr>
                      </a:pPr>
                      <a:r>
                        <a:t>0</a:t>
                      </a:r>
                    </a:p>
                  </a:txBody>
                  <a:tcPr>
                    <a:solidFill>
                      <a:srgbClr val="FFFFFF"/>
                    </a:solidFill>
                  </a:tcPr>
                </a:tc>
                <a:tc>
                  <a:txBody>
                    <a:bodyPr/>
                    <a:lstStyle/>
                    <a:p>
                      <a:pPr algn="ctr">
                        <a:defRPr sz="950">
                          <a:solidFill>
                            <a:srgbClr val="1E293B"/>
                          </a:solidFill>
                        </a:defRPr>
                      </a:pPr>
                      <a:r>
                        <a:t>0</a:t>
                      </a:r>
                    </a:p>
                  </a:txBody>
                  <a:tcPr>
                    <a:solidFill>
                      <a:srgbClr val="FFFFFF"/>
                    </a:solidFill>
                  </a:tcPr>
                </a:tc>
                <a:tc>
                  <a:txBody>
                    <a:bodyPr/>
                    <a:lstStyle/>
                    <a:p>
                      <a:pPr algn="ctr">
                        <a:defRPr sz="950">
                          <a:solidFill>
                            <a:srgbClr val="1E293B"/>
                          </a:solidFill>
                        </a:defRPr>
                      </a:pPr>
                      <a:r>
                        <a:t>0</a:t>
                      </a:r>
                    </a:p>
                  </a:txBody>
                  <a:tcPr>
                    <a:solidFill>
                      <a:srgbClr val="FFFFFF"/>
                    </a:solidFill>
                  </a:tcPr>
                </a:tc>
                <a:tc>
                  <a:txBody>
                    <a:bodyPr/>
                    <a:lstStyle/>
                    <a:p>
                      <a:pPr algn="ctr">
                        <a:defRPr sz="950">
                          <a:solidFill>
                            <a:srgbClr val="1E293B"/>
                          </a:solidFill>
                        </a:defRPr>
                      </a:pPr>
                      <a:r>
                        <a:t>0</a:t>
                      </a:r>
                    </a:p>
                  </a:txBody>
                  <a:tcPr>
                    <a:solidFill>
                      <a:srgbClr val="FFFFFF"/>
                    </a:solidFill>
                  </a:tcPr>
                </a:tc>
                <a:tc>
                  <a:txBody>
                    <a:bodyPr/>
                    <a:lstStyle/>
                    <a:p>
                      <a:pPr algn="ctr">
                        <a:defRPr sz="950">
                          <a:solidFill>
                            <a:srgbClr val="1E293B"/>
                          </a:solidFill>
                        </a:defRPr>
                      </a:pPr>
                      <a:r>
                        <a:t>Tuntas / Nihil</a:t>
                      </a:r>
                    </a:p>
                  </a:txBody>
                  <a:tcPr>
                    <a:solidFill>
                      <a:srgbClr val="FFFFFF"/>
                    </a:solidFill>
                  </a:tcPr>
                </a:tc>
              </a:tr>
              <a:tr h="339634">
                <a:tc>
                  <a:txBody>
                    <a:bodyPr/>
                    <a:lstStyle/>
                    <a:p>
                      <a:pPr algn="l">
                        <a:defRPr sz="950">
                          <a:solidFill>
                            <a:srgbClr val="1E293B"/>
                          </a:solidFill>
                        </a:defRPr>
                      </a:pPr>
                      <a:r>
                        <a:t>April</a:t>
                      </a:r>
                    </a:p>
                  </a:txBody>
                  <a:tcPr>
                    <a:solidFill>
                      <a:srgbClr val="F5F7FA"/>
                    </a:solidFill>
                  </a:tcPr>
                </a:tc>
                <a:tc>
                  <a:txBody>
                    <a:bodyPr/>
                    <a:lstStyle/>
                    <a:p>
                      <a:pPr algn="ctr">
                        <a:defRPr sz="950">
                          <a:solidFill>
                            <a:srgbClr val="1E293B"/>
                          </a:solidFill>
                        </a:defRPr>
                      </a:pPr>
                      <a:r>
                        <a:t>0</a:t>
                      </a:r>
                    </a:p>
                  </a:txBody>
                  <a:tcPr>
                    <a:solidFill>
                      <a:srgbClr val="F5F7FA"/>
                    </a:solidFill>
                  </a:tcPr>
                </a:tc>
                <a:tc>
                  <a:txBody>
                    <a:bodyPr/>
                    <a:lstStyle/>
                    <a:p>
                      <a:pPr algn="ctr">
                        <a:defRPr sz="950">
                          <a:solidFill>
                            <a:srgbClr val="1E293B"/>
                          </a:solidFill>
                        </a:defRPr>
                      </a:pPr>
                      <a:r>
                        <a:t>0</a:t>
                      </a:r>
                    </a:p>
                  </a:txBody>
                  <a:tcPr>
                    <a:solidFill>
                      <a:srgbClr val="F5F7FA"/>
                    </a:solidFill>
                  </a:tcPr>
                </a:tc>
                <a:tc>
                  <a:txBody>
                    <a:bodyPr/>
                    <a:lstStyle/>
                    <a:p>
                      <a:pPr algn="ctr">
                        <a:defRPr sz="950">
                          <a:solidFill>
                            <a:srgbClr val="1E293B"/>
                          </a:solidFill>
                        </a:defRPr>
                      </a:pPr>
                      <a:r>
                        <a:t>0</a:t>
                      </a:r>
                    </a:p>
                  </a:txBody>
                  <a:tcPr>
                    <a:solidFill>
                      <a:srgbClr val="F5F7FA"/>
                    </a:solidFill>
                  </a:tcPr>
                </a:tc>
                <a:tc>
                  <a:txBody>
                    <a:bodyPr/>
                    <a:lstStyle/>
                    <a:p>
                      <a:pPr algn="ctr">
                        <a:defRPr sz="950">
                          <a:solidFill>
                            <a:srgbClr val="1E293B"/>
                          </a:solidFill>
                        </a:defRPr>
                      </a:pPr>
                      <a:r>
                        <a:t>0</a:t>
                      </a:r>
                    </a:p>
                  </a:txBody>
                  <a:tcPr>
                    <a:solidFill>
                      <a:srgbClr val="F5F7FA"/>
                    </a:solidFill>
                  </a:tcPr>
                </a:tc>
                <a:tc>
                  <a:txBody>
                    <a:bodyPr/>
                    <a:lstStyle/>
                    <a:p>
                      <a:pPr algn="ctr">
                        <a:defRPr sz="950">
                          <a:solidFill>
                            <a:srgbClr val="1E293B"/>
                          </a:solidFill>
                        </a:defRPr>
                      </a:pPr>
                      <a:r>
                        <a:t>Tuntas / Nihil</a:t>
                      </a:r>
                    </a:p>
                  </a:txBody>
                  <a:tcPr>
                    <a:solidFill>
                      <a:srgbClr val="F5F7FA"/>
                    </a:solidFill>
                  </a:tcPr>
                </a:tc>
              </a:tr>
              <a:tr h="339634">
                <a:tc>
                  <a:txBody>
                    <a:bodyPr/>
                    <a:lstStyle/>
                    <a:p>
                      <a:pPr algn="l">
                        <a:defRPr sz="950">
                          <a:solidFill>
                            <a:srgbClr val="1E293B"/>
                          </a:solidFill>
                        </a:defRPr>
                      </a:pPr>
                      <a:r>
                        <a:t>Mei</a:t>
                      </a:r>
                    </a:p>
                  </a:txBody>
                  <a:tcPr>
                    <a:solidFill>
                      <a:srgbClr val="FFFFFF"/>
                    </a:solidFill>
                  </a:tcPr>
                </a:tc>
                <a:tc>
                  <a:txBody>
                    <a:bodyPr/>
                    <a:lstStyle/>
                    <a:p>
                      <a:pPr algn="ctr">
                        <a:defRPr sz="950">
                          <a:solidFill>
                            <a:srgbClr val="1E293B"/>
                          </a:solidFill>
                        </a:defRPr>
                      </a:pPr>
                      <a:r>
                        <a:t>0</a:t>
                      </a:r>
                    </a:p>
                  </a:txBody>
                  <a:tcPr>
                    <a:solidFill>
                      <a:srgbClr val="FFFFFF"/>
                    </a:solidFill>
                  </a:tcPr>
                </a:tc>
                <a:tc>
                  <a:txBody>
                    <a:bodyPr/>
                    <a:lstStyle/>
                    <a:p>
                      <a:pPr algn="ctr">
                        <a:defRPr sz="950">
                          <a:solidFill>
                            <a:srgbClr val="1E293B"/>
                          </a:solidFill>
                        </a:defRPr>
                      </a:pPr>
                      <a:r>
                        <a:t>0</a:t>
                      </a:r>
                    </a:p>
                  </a:txBody>
                  <a:tcPr>
                    <a:solidFill>
                      <a:srgbClr val="FFFFFF"/>
                    </a:solidFill>
                  </a:tcPr>
                </a:tc>
                <a:tc>
                  <a:txBody>
                    <a:bodyPr/>
                    <a:lstStyle/>
                    <a:p>
                      <a:pPr algn="ctr">
                        <a:defRPr sz="950">
                          <a:solidFill>
                            <a:srgbClr val="1E293B"/>
                          </a:solidFill>
                        </a:defRPr>
                      </a:pPr>
                      <a:r>
                        <a:t>0</a:t>
                      </a:r>
                    </a:p>
                  </a:txBody>
                  <a:tcPr>
                    <a:solidFill>
                      <a:srgbClr val="FFFFFF"/>
                    </a:solidFill>
                  </a:tcPr>
                </a:tc>
                <a:tc>
                  <a:txBody>
                    <a:bodyPr/>
                    <a:lstStyle/>
                    <a:p>
                      <a:pPr algn="ctr">
                        <a:defRPr sz="950">
                          <a:solidFill>
                            <a:srgbClr val="1E293B"/>
                          </a:solidFill>
                        </a:defRPr>
                      </a:pPr>
                      <a:r>
                        <a:t>0</a:t>
                      </a:r>
                    </a:p>
                  </a:txBody>
                  <a:tcPr>
                    <a:solidFill>
                      <a:srgbClr val="FFFFFF"/>
                    </a:solidFill>
                  </a:tcPr>
                </a:tc>
                <a:tc>
                  <a:txBody>
                    <a:bodyPr/>
                    <a:lstStyle/>
                    <a:p>
                      <a:pPr algn="ctr">
                        <a:defRPr sz="950">
                          <a:solidFill>
                            <a:srgbClr val="1E293B"/>
                          </a:solidFill>
                        </a:defRPr>
                      </a:pPr>
                      <a:r>
                        <a:t>Tuntas / Nihil</a:t>
                      </a:r>
                    </a:p>
                  </a:txBody>
                  <a:tcPr>
                    <a:solidFill>
                      <a:srgbClr val="FFFFFF"/>
                    </a:solidFill>
                  </a:tcPr>
                </a:tc>
              </a:tr>
              <a:tr h="339634">
                <a:tc>
                  <a:txBody>
                    <a:bodyPr/>
                    <a:lstStyle/>
                    <a:p>
                      <a:pPr algn="l">
                        <a:defRPr sz="950">
                          <a:solidFill>
                            <a:srgbClr val="1E293B"/>
                          </a:solidFill>
                        </a:defRPr>
                      </a:pPr>
                      <a:r>
                        <a:t>Juni</a:t>
                      </a:r>
                    </a:p>
                  </a:txBody>
                  <a:tcPr>
                    <a:solidFill>
                      <a:srgbClr val="F5F7FA"/>
                    </a:solidFill>
                  </a:tcPr>
                </a:tc>
                <a:tc>
                  <a:txBody>
                    <a:bodyPr/>
                    <a:lstStyle/>
                    <a:p>
                      <a:pPr algn="ctr">
                        <a:defRPr sz="950">
                          <a:solidFill>
                            <a:srgbClr val="1E293B"/>
                          </a:solidFill>
                        </a:defRPr>
                      </a:pPr>
                      <a:r>
                        <a:t>0</a:t>
                      </a:r>
                    </a:p>
                  </a:txBody>
                  <a:tcPr>
                    <a:solidFill>
                      <a:srgbClr val="F5F7FA"/>
                    </a:solidFill>
                  </a:tcPr>
                </a:tc>
                <a:tc>
                  <a:txBody>
                    <a:bodyPr/>
                    <a:lstStyle/>
                    <a:p>
                      <a:pPr algn="ctr">
                        <a:defRPr sz="950">
                          <a:solidFill>
                            <a:srgbClr val="1E293B"/>
                          </a:solidFill>
                        </a:defRPr>
                      </a:pPr>
                      <a:r>
                        <a:t>0</a:t>
                      </a:r>
                    </a:p>
                  </a:txBody>
                  <a:tcPr>
                    <a:solidFill>
                      <a:srgbClr val="F5F7FA"/>
                    </a:solidFill>
                  </a:tcPr>
                </a:tc>
                <a:tc>
                  <a:txBody>
                    <a:bodyPr/>
                    <a:lstStyle/>
                    <a:p>
                      <a:pPr algn="ctr">
                        <a:defRPr sz="950">
                          <a:solidFill>
                            <a:srgbClr val="1E293B"/>
                          </a:solidFill>
                        </a:defRPr>
                      </a:pPr>
                      <a:r>
                        <a:t>0</a:t>
                      </a:r>
                    </a:p>
                  </a:txBody>
                  <a:tcPr>
                    <a:solidFill>
                      <a:srgbClr val="F5F7FA"/>
                    </a:solidFill>
                  </a:tcPr>
                </a:tc>
                <a:tc>
                  <a:txBody>
                    <a:bodyPr/>
                    <a:lstStyle/>
                    <a:p>
                      <a:pPr algn="ctr">
                        <a:defRPr sz="950">
                          <a:solidFill>
                            <a:srgbClr val="1E293B"/>
                          </a:solidFill>
                        </a:defRPr>
                      </a:pPr>
                      <a:r>
                        <a:t>0</a:t>
                      </a:r>
                    </a:p>
                  </a:txBody>
                  <a:tcPr>
                    <a:solidFill>
                      <a:srgbClr val="F5F7FA"/>
                    </a:solidFill>
                  </a:tcPr>
                </a:tc>
                <a:tc>
                  <a:txBody>
                    <a:bodyPr/>
                    <a:lstStyle/>
                    <a:p>
                      <a:pPr algn="ctr">
                        <a:defRPr sz="950">
                          <a:solidFill>
                            <a:srgbClr val="1E293B"/>
                          </a:solidFill>
                        </a:defRPr>
                      </a:pPr>
                      <a:r>
                        <a:t>Tuntas / Nihil</a:t>
                      </a:r>
                    </a:p>
                  </a:txBody>
                  <a:tcPr>
                    <a:solidFill>
                      <a:srgbClr val="F5F7FA"/>
                    </a:solidFill>
                  </a:tcPr>
                </a:tc>
              </a:tr>
              <a:tr h="339634">
                <a:tc>
                  <a:txBody>
                    <a:bodyPr/>
                    <a:lstStyle/>
                    <a:p>
                      <a:pPr algn="l">
                        <a:defRPr sz="950">
                          <a:solidFill>
                            <a:srgbClr val="1E293B"/>
                          </a:solidFill>
                        </a:defRPr>
                      </a:pPr>
                      <a:r>
                        <a:t>Juli</a:t>
                      </a:r>
                    </a:p>
                  </a:txBody>
                  <a:tcPr>
                    <a:solidFill>
                      <a:srgbClr val="FFFFFF"/>
                    </a:solidFill>
                  </a:tcPr>
                </a:tc>
                <a:tc>
                  <a:txBody>
                    <a:bodyPr/>
                    <a:lstStyle/>
                    <a:p>
                      <a:pPr algn="ctr">
                        <a:defRPr sz="950">
                          <a:solidFill>
                            <a:srgbClr val="1E293B"/>
                          </a:solidFill>
                        </a:defRPr>
                      </a:pPr>
                      <a:r>
                        <a:t>0</a:t>
                      </a:r>
                    </a:p>
                  </a:txBody>
                  <a:tcPr>
                    <a:solidFill>
                      <a:srgbClr val="FFFFFF"/>
                    </a:solidFill>
                  </a:tcPr>
                </a:tc>
                <a:tc>
                  <a:txBody>
                    <a:bodyPr/>
                    <a:lstStyle/>
                    <a:p>
                      <a:pPr algn="ctr">
                        <a:defRPr sz="950">
                          <a:solidFill>
                            <a:srgbClr val="1E293B"/>
                          </a:solidFill>
                        </a:defRPr>
                      </a:pPr>
                      <a:r>
                        <a:t>0</a:t>
                      </a:r>
                    </a:p>
                  </a:txBody>
                  <a:tcPr>
                    <a:solidFill>
                      <a:srgbClr val="FFFFFF"/>
                    </a:solidFill>
                  </a:tcPr>
                </a:tc>
                <a:tc>
                  <a:txBody>
                    <a:bodyPr/>
                    <a:lstStyle/>
                    <a:p>
                      <a:pPr algn="ctr">
                        <a:defRPr sz="950">
                          <a:solidFill>
                            <a:srgbClr val="1E293B"/>
                          </a:solidFill>
                        </a:defRPr>
                      </a:pPr>
                      <a:r>
                        <a:t>0</a:t>
                      </a:r>
                    </a:p>
                  </a:txBody>
                  <a:tcPr>
                    <a:solidFill>
                      <a:srgbClr val="FFFFFF"/>
                    </a:solidFill>
                  </a:tcPr>
                </a:tc>
                <a:tc>
                  <a:txBody>
                    <a:bodyPr/>
                    <a:lstStyle/>
                    <a:p>
                      <a:pPr algn="ctr">
                        <a:defRPr sz="950">
                          <a:solidFill>
                            <a:srgbClr val="1E293B"/>
                          </a:solidFill>
                        </a:defRPr>
                      </a:pPr>
                      <a:r>
                        <a:t>0</a:t>
                      </a:r>
                    </a:p>
                  </a:txBody>
                  <a:tcPr>
                    <a:solidFill>
                      <a:srgbClr val="FFFFFF"/>
                    </a:solidFill>
                  </a:tcPr>
                </a:tc>
                <a:tc>
                  <a:txBody>
                    <a:bodyPr/>
                    <a:lstStyle/>
                    <a:p>
                      <a:pPr algn="ctr">
                        <a:defRPr sz="950">
                          <a:solidFill>
                            <a:srgbClr val="1E293B"/>
                          </a:solidFill>
                        </a:defRPr>
                      </a:pPr>
                      <a:r>
                        <a:t>Tuntas / Nihil</a:t>
                      </a:r>
                    </a:p>
                  </a:txBody>
                  <a:tcPr>
                    <a:solidFill>
                      <a:srgbClr val="FFFFFF"/>
                    </a:solidFill>
                  </a:tcPr>
                </a:tc>
              </a:tr>
              <a:tr h="339634">
                <a:tc>
                  <a:txBody>
                    <a:bodyPr/>
                    <a:lstStyle/>
                    <a:p>
                      <a:pPr algn="l">
                        <a:defRPr sz="950">
                          <a:solidFill>
                            <a:srgbClr val="1E293B"/>
                          </a:solidFill>
                        </a:defRPr>
                      </a:pPr>
                      <a:r>
                        <a:t>Agustus</a:t>
                      </a:r>
                    </a:p>
                  </a:txBody>
                  <a:tcPr>
                    <a:solidFill>
                      <a:srgbClr val="F5F7FA"/>
                    </a:solidFill>
                  </a:tcPr>
                </a:tc>
                <a:tc>
                  <a:txBody>
                    <a:bodyPr/>
                    <a:lstStyle/>
                    <a:p>
                      <a:pPr algn="ctr">
                        <a:defRPr sz="950">
                          <a:solidFill>
                            <a:srgbClr val="1E293B"/>
                          </a:solidFill>
                        </a:defRPr>
                      </a:pPr>
                      <a:r>
                        <a:t>0</a:t>
                      </a:r>
                    </a:p>
                  </a:txBody>
                  <a:tcPr>
                    <a:solidFill>
                      <a:srgbClr val="F5F7FA"/>
                    </a:solidFill>
                  </a:tcPr>
                </a:tc>
                <a:tc>
                  <a:txBody>
                    <a:bodyPr/>
                    <a:lstStyle/>
                    <a:p>
                      <a:pPr algn="ctr">
                        <a:defRPr sz="950">
                          <a:solidFill>
                            <a:srgbClr val="1E293B"/>
                          </a:solidFill>
                        </a:defRPr>
                      </a:pPr>
                      <a:r>
                        <a:t>0</a:t>
                      </a:r>
                    </a:p>
                  </a:txBody>
                  <a:tcPr>
                    <a:solidFill>
                      <a:srgbClr val="F5F7FA"/>
                    </a:solidFill>
                  </a:tcPr>
                </a:tc>
                <a:tc>
                  <a:txBody>
                    <a:bodyPr/>
                    <a:lstStyle/>
                    <a:p>
                      <a:pPr algn="ctr">
                        <a:defRPr sz="950">
                          <a:solidFill>
                            <a:srgbClr val="1E293B"/>
                          </a:solidFill>
                        </a:defRPr>
                      </a:pPr>
                      <a:r>
                        <a:t>0</a:t>
                      </a:r>
                    </a:p>
                  </a:txBody>
                  <a:tcPr>
                    <a:solidFill>
                      <a:srgbClr val="F5F7FA"/>
                    </a:solidFill>
                  </a:tcPr>
                </a:tc>
                <a:tc>
                  <a:txBody>
                    <a:bodyPr/>
                    <a:lstStyle/>
                    <a:p>
                      <a:pPr algn="ctr">
                        <a:defRPr sz="950">
                          <a:solidFill>
                            <a:srgbClr val="1E293B"/>
                          </a:solidFill>
                        </a:defRPr>
                      </a:pPr>
                      <a:r>
                        <a:t>0</a:t>
                      </a:r>
                    </a:p>
                  </a:txBody>
                  <a:tcPr>
                    <a:solidFill>
                      <a:srgbClr val="F5F7FA"/>
                    </a:solidFill>
                  </a:tcPr>
                </a:tc>
                <a:tc>
                  <a:txBody>
                    <a:bodyPr/>
                    <a:lstStyle/>
                    <a:p>
                      <a:pPr algn="ctr">
                        <a:defRPr sz="950">
                          <a:solidFill>
                            <a:srgbClr val="1E293B"/>
                          </a:solidFill>
                        </a:defRPr>
                      </a:pPr>
                      <a:r>
                        <a:t>Tuntas / Nihil</a:t>
                      </a:r>
                    </a:p>
                  </a:txBody>
                  <a:tcPr>
                    <a:solidFill>
                      <a:srgbClr val="F5F7FA"/>
                    </a:solidFill>
                  </a:tcPr>
                </a:tc>
              </a:tr>
              <a:tr h="339634">
                <a:tc>
                  <a:txBody>
                    <a:bodyPr/>
                    <a:lstStyle/>
                    <a:p>
                      <a:pPr algn="l">
                        <a:defRPr sz="950">
                          <a:solidFill>
                            <a:srgbClr val="1E293B"/>
                          </a:solidFill>
                        </a:defRPr>
                      </a:pPr>
                      <a:r>
                        <a:t>September</a:t>
                      </a:r>
                    </a:p>
                  </a:txBody>
                  <a:tcPr>
                    <a:solidFill>
                      <a:srgbClr val="FFFFFF"/>
                    </a:solidFill>
                  </a:tcPr>
                </a:tc>
                <a:tc>
                  <a:txBody>
                    <a:bodyPr/>
                    <a:lstStyle/>
                    <a:p>
                      <a:pPr algn="ctr">
                        <a:defRPr sz="950">
                          <a:solidFill>
                            <a:srgbClr val="1E293B"/>
                          </a:solidFill>
                        </a:defRPr>
                      </a:pPr>
                      <a:r>
                        <a:t>0</a:t>
                      </a:r>
                    </a:p>
                  </a:txBody>
                  <a:tcPr>
                    <a:solidFill>
                      <a:srgbClr val="FFFFFF"/>
                    </a:solidFill>
                  </a:tcPr>
                </a:tc>
                <a:tc>
                  <a:txBody>
                    <a:bodyPr/>
                    <a:lstStyle/>
                    <a:p>
                      <a:pPr algn="ctr">
                        <a:defRPr sz="950">
                          <a:solidFill>
                            <a:srgbClr val="1E293B"/>
                          </a:solidFill>
                        </a:defRPr>
                      </a:pPr>
                      <a:r>
                        <a:t>0</a:t>
                      </a:r>
                    </a:p>
                  </a:txBody>
                  <a:tcPr>
                    <a:solidFill>
                      <a:srgbClr val="FFFFFF"/>
                    </a:solidFill>
                  </a:tcPr>
                </a:tc>
                <a:tc>
                  <a:txBody>
                    <a:bodyPr/>
                    <a:lstStyle/>
                    <a:p>
                      <a:pPr algn="ctr">
                        <a:defRPr sz="950">
                          <a:solidFill>
                            <a:srgbClr val="1E293B"/>
                          </a:solidFill>
                        </a:defRPr>
                      </a:pPr>
                      <a:r>
                        <a:t>0</a:t>
                      </a:r>
                    </a:p>
                  </a:txBody>
                  <a:tcPr>
                    <a:solidFill>
                      <a:srgbClr val="FFFFFF"/>
                    </a:solidFill>
                  </a:tcPr>
                </a:tc>
                <a:tc>
                  <a:txBody>
                    <a:bodyPr/>
                    <a:lstStyle/>
                    <a:p>
                      <a:pPr algn="ctr">
                        <a:defRPr sz="950">
                          <a:solidFill>
                            <a:srgbClr val="1E293B"/>
                          </a:solidFill>
                        </a:defRPr>
                      </a:pPr>
                      <a:r>
                        <a:t>0</a:t>
                      </a:r>
                    </a:p>
                  </a:txBody>
                  <a:tcPr>
                    <a:solidFill>
                      <a:srgbClr val="FFFFFF"/>
                    </a:solidFill>
                  </a:tcPr>
                </a:tc>
                <a:tc>
                  <a:txBody>
                    <a:bodyPr/>
                    <a:lstStyle/>
                    <a:p>
                      <a:pPr algn="ctr">
                        <a:defRPr sz="950">
                          <a:solidFill>
                            <a:srgbClr val="1E293B"/>
                          </a:solidFill>
                        </a:defRPr>
                      </a:pPr>
                      <a:r>
                        <a:t>Tuntas / Nihil</a:t>
                      </a:r>
                    </a:p>
                  </a:txBody>
                  <a:tcPr>
                    <a:solidFill>
                      <a:srgbClr val="FFFFFF"/>
                    </a:solidFill>
                  </a:tcPr>
                </a:tc>
              </a:tr>
              <a:tr h="339634">
                <a:tc>
                  <a:txBody>
                    <a:bodyPr/>
                    <a:lstStyle/>
                    <a:p>
                      <a:pPr algn="l">
                        <a:defRPr sz="950">
                          <a:solidFill>
                            <a:srgbClr val="1E293B"/>
                          </a:solidFill>
                        </a:defRPr>
                      </a:pPr>
                      <a:r>
                        <a:t>Oktober</a:t>
                      </a:r>
                    </a:p>
                  </a:txBody>
                  <a:tcPr>
                    <a:solidFill>
                      <a:srgbClr val="F5F7FA"/>
                    </a:solidFill>
                  </a:tcPr>
                </a:tc>
                <a:tc>
                  <a:txBody>
                    <a:bodyPr/>
                    <a:lstStyle/>
                    <a:p>
                      <a:pPr algn="ctr">
                        <a:defRPr sz="950">
                          <a:solidFill>
                            <a:srgbClr val="1E293B"/>
                          </a:solidFill>
                        </a:defRPr>
                      </a:pPr>
                      <a:r>
                        <a:t>0</a:t>
                      </a:r>
                    </a:p>
                  </a:txBody>
                  <a:tcPr>
                    <a:solidFill>
                      <a:srgbClr val="F5F7FA"/>
                    </a:solidFill>
                  </a:tcPr>
                </a:tc>
                <a:tc>
                  <a:txBody>
                    <a:bodyPr/>
                    <a:lstStyle/>
                    <a:p>
                      <a:pPr algn="ctr">
                        <a:defRPr sz="950">
                          <a:solidFill>
                            <a:srgbClr val="1E293B"/>
                          </a:solidFill>
                        </a:defRPr>
                      </a:pPr>
                      <a:r>
                        <a:t>0</a:t>
                      </a:r>
                    </a:p>
                  </a:txBody>
                  <a:tcPr>
                    <a:solidFill>
                      <a:srgbClr val="F5F7FA"/>
                    </a:solidFill>
                  </a:tcPr>
                </a:tc>
                <a:tc>
                  <a:txBody>
                    <a:bodyPr/>
                    <a:lstStyle/>
                    <a:p>
                      <a:pPr algn="ctr">
                        <a:defRPr sz="950">
                          <a:solidFill>
                            <a:srgbClr val="1E293B"/>
                          </a:solidFill>
                        </a:defRPr>
                      </a:pPr>
                      <a:r>
                        <a:t>0</a:t>
                      </a:r>
                    </a:p>
                  </a:txBody>
                  <a:tcPr>
                    <a:solidFill>
                      <a:srgbClr val="F5F7FA"/>
                    </a:solidFill>
                  </a:tcPr>
                </a:tc>
                <a:tc>
                  <a:txBody>
                    <a:bodyPr/>
                    <a:lstStyle/>
                    <a:p>
                      <a:pPr algn="ctr">
                        <a:defRPr sz="950">
                          <a:solidFill>
                            <a:srgbClr val="1E293B"/>
                          </a:solidFill>
                        </a:defRPr>
                      </a:pPr>
                      <a:r>
                        <a:t>0</a:t>
                      </a:r>
                    </a:p>
                  </a:txBody>
                  <a:tcPr>
                    <a:solidFill>
                      <a:srgbClr val="F5F7FA"/>
                    </a:solidFill>
                  </a:tcPr>
                </a:tc>
                <a:tc>
                  <a:txBody>
                    <a:bodyPr/>
                    <a:lstStyle/>
                    <a:p>
                      <a:pPr algn="ctr">
                        <a:defRPr sz="950">
                          <a:solidFill>
                            <a:srgbClr val="1E293B"/>
                          </a:solidFill>
                        </a:defRPr>
                      </a:pPr>
                      <a:r>
                        <a:t>Tuntas / Nihil</a:t>
                      </a:r>
                    </a:p>
                  </a:txBody>
                  <a:tcPr>
                    <a:solidFill>
                      <a:srgbClr val="F5F7FA"/>
                    </a:solidFill>
                  </a:tcPr>
                </a:tc>
              </a:tr>
              <a:tr h="339634">
                <a:tc>
                  <a:txBody>
                    <a:bodyPr/>
                    <a:lstStyle/>
                    <a:p>
                      <a:pPr algn="l">
                        <a:defRPr sz="950">
                          <a:solidFill>
                            <a:srgbClr val="1E293B"/>
                          </a:solidFill>
                        </a:defRPr>
                      </a:pPr>
                      <a:r>
                        <a:t>November</a:t>
                      </a:r>
                    </a:p>
                  </a:txBody>
                  <a:tcPr>
                    <a:solidFill>
                      <a:srgbClr val="FFFFFF"/>
                    </a:solidFill>
                  </a:tcPr>
                </a:tc>
                <a:tc>
                  <a:txBody>
                    <a:bodyPr/>
                    <a:lstStyle/>
                    <a:p>
                      <a:pPr algn="ctr">
                        <a:defRPr sz="950">
                          <a:solidFill>
                            <a:srgbClr val="1E293B"/>
                          </a:solidFill>
                        </a:defRPr>
                      </a:pPr>
                      <a:r>
                        <a:t>0</a:t>
                      </a:r>
                    </a:p>
                  </a:txBody>
                  <a:tcPr>
                    <a:solidFill>
                      <a:srgbClr val="FFFFFF"/>
                    </a:solidFill>
                  </a:tcPr>
                </a:tc>
                <a:tc>
                  <a:txBody>
                    <a:bodyPr/>
                    <a:lstStyle/>
                    <a:p>
                      <a:pPr algn="ctr">
                        <a:defRPr sz="950">
                          <a:solidFill>
                            <a:srgbClr val="1E293B"/>
                          </a:solidFill>
                        </a:defRPr>
                      </a:pPr>
                      <a:r>
                        <a:t>0</a:t>
                      </a:r>
                    </a:p>
                  </a:txBody>
                  <a:tcPr>
                    <a:solidFill>
                      <a:srgbClr val="FFFFFF"/>
                    </a:solidFill>
                  </a:tcPr>
                </a:tc>
                <a:tc>
                  <a:txBody>
                    <a:bodyPr/>
                    <a:lstStyle/>
                    <a:p>
                      <a:pPr algn="ctr">
                        <a:defRPr sz="950">
                          <a:solidFill>
                            <a:srgbClr val="1E293B"/>
                          </a:solidFill>
                        </a:defRPr>
                      </a:pPr>
                      <a:r>
                        <a:t>0</a:t>
                      </a:r>
                    </a:p>
                  </a:txBody>
                  <a:tcPr>
                    <a:solidFill>
                      <a:srgbClr val="FFFFFF"/>
                    </a:solidFill>
                  </a:tcPr>
                </a:tc>
                <a:tc>
                  <a:txBody>
                    <a:bodyPr/>
                    <a:lstStyle/>
                    <a:p>
                      <a:pPr algn="ctr">
                        <a:defRPr sz="950">
                          <a:solidFill>
                            <a:srgbClr val="1E293B"/>
                          </a:solidFill>
                        </a:defRPr>
                      </a:pPr>
                      <a:r>
                        <a:t>0</a:t>
                      </a:r>
                    </a:p>
                  </a:txBody>
                  <a:tcPr>
                    <a:solidFill>
                      <a:srgbClr val="FFFFFF"/>
                    </a:solidFill>
                  </a:tcPr>
                </a:tc>
                <a:tc>
                  <a:txBody>
                    <a:bodyPr/>
                    <a:lstStyle/>
                    <a:p>
                      <a:pPr algn="ctr">
                        <a:defRPr sz="950">
                          <a:solidFill>
                            <a:srgbClr val="1E293B"/>
                          </a:solidFill>
                        </a:defRPr>
                      </a:pPr>
                      <a:r>
                        <a:t>Tuntas / Nihil</a:t>
                      </a:r>
                    </a:p>
                  </a:txBody>
                  <a:tcPr>
                    <a:solidFill>
                      <a:srgbClr val="FFFFFF"/>
                    </a:solidFill>
                  </a:tcPr>
                </a:tc>
              </a:tr>
              <a:tr h="339634">
                <a:tc>
                  <a:txBody>
                    <a:bodyPr/>
                    <a:lstStyle/>
                    <a:p>
                      <a:pPr algn="l">
                        <a:defRPr sz="950">
                          <a:solidFill>
                            <a:srgbClr val="1E293B"/>
                          </a:solidFill>
                        </a:defRPr>
                      </a:pPr>
                      <a:r>
                        <a:t>Desember</a:t>
                      </a:r>
                    </a:p>
                  </a:txBody>
                  <a:tcPr>
                    <a:solidFill>
                      <a:srgbClr val="F5F7FA"/>
                    </a:solidFill>
                  </a:tcPr>
                </a:tc>
                <a:tc>
                  <a:txBody>
                    <a:bodyPr/>
                    <a:lstStyle/>
                    <a:p>
                      <a:pPr algn="ctr">
                        <a:defRPr sz="950">
                          <a:solidFill>
                            <a:srgbClr val="1E293B"/>
                          </a:solidFill>
                        </a:defRPr>
                      </a:pPr>
                      <a:r>
                        <a:t>0</a:t>
                      </a:r>
                    </a:p>
                  </a:txBody>
                  <a:tcPr>
                    <a:solidFill>
                      <a:srgbClr val="F5F7FA"/>
                    </a:solidFill>
                  </a:tcPr>
                </a:tc>
                <a:tc>
                  <a:txBody>
                    <a:bodyPr/>
                    <a:lstStyle/>
                    <a:p>
                      <a:pPr algn="ctr">
                        <a:defRPr sz="950">
                          <a:solidFill>
                            <a:srgbClr val="1E293B"/>
                          </a:solidFill>
                        </a:defRPr>
                      </a:pPr>
                      <a:r>
                        <a:t>0</a:t>
                      </a:r>
                    </a:p>
                  </a:txBody>
                  <a:tcPr>
                    <a:solidFill>
                      <a:srgbClr val="F5F7FA"/>
                    </a:solidFill>
                  </a:tcPr>
                </a:tc>
                <a:tc>
                  <a:txBody>
                    <a:bodyPr/>
                    <a:lstStyle/>
                    <a:p>
                      <a:pPr algn="ctr">
                        <a:defRPr sz="950">
                          <a:solidFill>
                            <a:srgbClr val="1E293B"/>
                          </a:solidFill>
                        </a:defRPr>
                      </a:pPr>
                      <a:r>
                        <a:t>0</a:t>
                      </a:r>
                    </a:p>
                  </a:txBody>
                  <a:tcPr>
                    <a:solidFill>
                      <a:srgbClr val="F5F7FA"/>
                    </a:solidFill>
                  </a:tcPr>
                </a:tc>
                <a:tc>
                  <a:txBody>
                    <a:bodyPr/>
                    <a:lstStyle/>
                    <a:p>
                      <a:pPr algn="ctr">
                        <a:defRPr sz="950">
                          <a:solidFill>
                            <a:srgbClr val="1E293B"/>
                          </a:solidFill>
                        </a:defRPr>
                      </a:pPr>
                      <a:r>
                        <a:t>0</a:t>
                      </a:r>
                    </a:p>
                  </a:txBody>
                  <a:tcPr>
                    <a:solidFill>
                      <a:srgbClr val="F5F7FA"/>
                    </a:solidFill>
                  </a:tcPr>
                </a:tc>
                <a:tc>
                  <a:txBody>
                    <a:bodyPr/>
                    <a:lstStyle/>
                    <a:p>
                      <a:pPr algn="ctr">
                        <a:defRPr sz="950">
                          <a:solidFill>
                            <a:srgbClr val="1E293B"/>
                          </a:solidFill>
                        </a:defRPr>
                      </a:pPr>
                      <a:r>
                        <a:t>Tuntas / Nihil</a:t>
                      </a:r>
                    </a:p>
                  </a:txBody>
                  <a:tcPr>
                    <a:solidFill>
                      <a:srgbClr val="F5F7FA"/>
                    </a:solidFill>
                  </a:tcPr>
                </a:tc>
              </a:tr>
              <a:tr h="339638">
                <a:tc>
                  <a:txBody>
                    <a:bodyPr/>
                    <a:lstStyle/>
                    <a:p>
                      <a:pPr algn="l">
                        <a:defRPr b="1" sz="1050">
                          <a:solidFill>
                            <a:srgbClr val="0B2545"/>
                          </a:solidFill>
                        </a:defRPr>
                      </a:pPr>
                      <a:r>
                        <a:t>TOTAL KESELURUHAN</a:t>
                      </a:r>
                    </a:p>
                  </a:txBody>
                  <a:tcPr>
                    <a:solidFill>
                      <a:srgbClr val="FFB703"/>
                    </a:solidFill>
                  </a:tcPr>
                </a:tc>
                <a:tc>
                  <a:txBody>
                    <a:bodyPr/>
                    <a:lstStyle/>
                    <a:p>
                      <a:pPr algn="ctr">
                        <a:defRPr b="1" sz="1050">
                          <a:solidFill>
                            <a:srgbClr val="0B2545"/>
                          </a:solidFill>
                        </a:defRPr>
                      </a:pPr>
                      <a:r>
                        <a:t>0</a:t>
                      </a:r>
                    </a:p>
                  </a:txBody>
                  <a:tcPr>
                    <a:solidFill>
                      <a:srgbClr val="FFB703"/>
                    </a:solidFill>
                  </a:tcPr>
                </a:tc>
                <a:tc>
                  <a:txBody>
                    <a:bodyPr/>
                    <a:lstStyle/>
                    <a:p>
                      <a:pPr algn="ctr">
                        <a:defRPr b="1" sz="1050">
                          <a:solidFill>
                            <a:srgbClr val="0B2545"/>
                          </a:solidFill>
                        </a:defRPr>
                      </a:pPr>
                      <a:r>
                        <a:t>0</a:t>
                      </a:r>
                    </a:p>
                  </a:txBody>
                  <a:tcPr>
                    <a:solidFill>
                      <a:srgbClr val="FFB703"/>
                    </a:solidFill>
                  </a:tcPr>
                </a:tc>
                <a:tc>
                  <a:txBody>
                    <a:bodyPr/>
                    <a:lstStyle/>
                    <a:p>
                      <a:pPr algn="ctr">
                        <a:defRPr b="1" sz="1050">
                          <a:solidFill>
                            <a:srgbClr val="0B2545"/>
                          </a:solidFill>
                        </a:defRPr>
                      </a:pPr>
                      <a:r>
                        <a:t>0</a:t>
                      </a:r>
                    </a:p>
                  </a:txBody>
                  <a:tcPr>
                    <a:solidFill>
                      <a:srgbClr val="FFB703"/>
                    </a:solidFill>
                  </a:tcPr>
                </a:tc>
                <a:tc>
                  <a:txBody>
                    <a:bodyPr/>
                    <a:lstStyle/>
                    <a:p>
                      <a:pPr algn="ctr">
                        <a:defRPr b="1" sz="1050">
                          <a:solidFill>
                            <a:srgbClr val="0B2545"/>
                          </a:solidFill>
                        </a:defRPr>
                      </a:pPr>
                      <a:r>
                        <a:t>0</a:t>
                      </a:r>
                    </a:p>
                  </a:txBody>
                  <a:tcPr>
                    <a:solidFill>
                      <a:srgbClr val="FFB703"/>
                    </a:solidFill>
                  </a:tcPr>
                </a:tc>
                <a:tc>
                  <a:txBody>
                    <a:bodyPr/>
                    <a:lstStyle/>
                    <a:p>
                      <a:pPr algn="ctr">
                        <a:defRPr b="1" sz="1050">
                          <a:solidFill>
                            <a:srgbClr val="0B2545"/>
                          </a:solidFill>
                        </a:defRPr>
                      </a:pPr>
                      <a:r>
                        <a:t>100% Tertib</a:t>
                      </a:r>
                    </a:p>
                  </a:txBody>
                  <a:tcPr>
                    <a:solidFill>
                      <a:srgbClr val="FFB703"/>
                    </a:solidFill>
                  </a:tcPr>
                </a:tc>
              </a:tr>
            </a:tbl>
          </a:graphicData>
        </a:graphic>
      </p:graphicFrame>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731520" y="365760"/>
            <a:ext cx="8686800" cy="1005840"/>
          </a:xfrm>
          <a:prstGeom prst="rect">
            <a:avLst/>
          </a:prstGeom>
          <a:noFill/>
        </p:spPr>
        <p:txBody>
          <a:bodyPr wrap="square" lIns="0" tIns="0" rIns="0" bIns="0">
            <a:spAutoFit/>
          </a:bodyPr>
          <a:lstStyle/>
          <a:p>
            <a:pPr>
              <a:defRPr sz="1000" b="1">
                <a:solidFill>
                  <a:srgbClr val="004A99"/>
                </a:solidFill>
                <a:latin typeface="Segoe UI"/>
              </a:defRPr>
            </a:pPr>
            <a:r>
              <a:t>PPID PELAKSANA UPT PKTJ TEGAL</a:t>
            </a:r>
          </a:p>
          <a:p>
            <a:pPr>
              <a:defRPr sz="2200" b="1">
                <a:solidFill>
                  <a:srgbClr val="0B2545"/>
                </a:solidFill>
                <a:latin typeface="Segoe UI"/>
              </a:defRPr>
            </a:pPr>
            <a:r>
              <a:t>STATUS PENERIMAAN PERMOHONAN &amp; JANGKA WAKTU PENYELESAIAN</a:t>
            </a:r>
          </a:p>
        </p:txBody>
      </p:sp>
      <p:pic>
        <p:nvPicPr>
          <p:cNvPr id="3" name="Picture 2" descr="media_1789460385233.png"/>
          <p:cNvPicPr>
            <a:picLocks noChangeAspect="1"/>
          </p:cNvPicPr>
          <p:nvPr/>
        </p:nvPicPr>
        <p:blipFill>
          <a:blip r:embed="rId2"/>
          <a:stretch>
            <a:fillRect/>
          </a:stretch>
        </p:blipFill>
        <p:spPr>
          <a:xfrm>
            <a:off x="9601200" y="320040"/>
            <a:ext cx="594717" cy="685800"/>
          </a:xfrm>
          <a:prstGeom prst="rect">
            <a:avLst/>
          </a:prstGeom>
        </p:spPr>
      </p:pic>
      <p:pic>
        <p:nvPicPr>
          <p:cNvPr id="4" name="Picture 3" descr="media_1789460385231.png"/>
          <p:cNvPicPr>
            <a:picLocks noChangeAspect="1"/>
          </p:cNvPicPr>
          <p:nvPr/>
        </p:nvPicPr>
        <p:blipFill>
          <a:blip r:embed="rId3"/>
          <a:stretch>
            <a:fillRect/>
          </a:stretch>
        </p:blipFill>
        <p:spPr>
          <a:xfrm>
            <a:off x="10424160" y="411480"/>
            <a:ext cx="755117" cy="502920"/>
          </a:xfrm>
          <a:prstGeom prst="rect">
            <a:avLst/>
          </a:prstGeom>
        </p:spPr>
      </p:pic>
      <p:pic>
        <p:nvPicPr>
          <p:cNvPr id="5" name="Picture 4" descr="media_1789460385272.png"/>
          <p:cNvPicPr>
            <a:picLocks noChangeAspect="1"/>
          </p:cNvPicPr>
          <p:nvPr/>
        </p:nvPicPr>
        <p:blipFill>
          <a:blip r:embed="rId4"/>
          <a:stretch>
            <a:fillRect/>
          </a:stretch>
        </p:blipFill>
        <p:spPr>
          <a:xfrm>
            <a:off x="11247120" y="320040"/>
            <a:ext cx="685130" cy="685800"/>
          </a:xfrm>
          <a:prstGeom prst="rect">
            <a:avLst/>
          </a:prstGeom>
        </p:spPr>
      </p:pic>
      <p:sp>
        <p:nvSpPr>
          <p:cNvPr id="6" name="Rectangle 5"/>
          <p:cNvSpPr/>
          <p:nvPr/>
        </p:nvSpPr>
        <p:spPr>
          <a:xfrm>
            <a:off x="731520" y="1325880"/>
            <a:ext cx="10728655" cy="36576"/>
          </a:xfrm>
          <a:prstGeom prst="rect">
            <a:avLst/>
          </a:prstGeom>
          <a:solidFill>
            <a:srgbClr val="0284C7"/>
          </a:solidFill>
          <a:ln>
            <a:solidFill>
              <a:srgbClr val="0284C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731520" y="1554480"/>
            <a:ext cx="5120640" cy="4754880"/>
          </a:xfrm>
          <a:prstGeom prst="roundRect">
            <a:avLst/>
          </a:prstGeom>
          <a:solidFill>
            <a:srgbClr val="FFFFFF"/>
          </a:solidFill>
          <a:ln w="1905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914400" y="1737360"/>
            <a:ext cx="4754880" cy="4389120"/>
          </a:xfrm>
          <a:prstGeom prst="rect">
            <a:avLst/>
          </a:prstGeom>
          <a:noFill/>
        </p:spPr>
        <p:txBody>
          <a:bodyPr wrap="square">
            <a:spAutoFit/>
          </a:bodyPr>
          <a:lstStyle/>
          <a:p>
            <a:pPr>
              <a:spcAft>
                <a:spcPts val="1000"/>
              </a:spcAft>
              <a:defRPr b="1" sz="1300">
                <a:solidFill>
                  <a:srgbClr val="0B2545"/>
                </a:solidFill>
              </a:defRPr>
            </a:pPr>
            <a:r>
              <a:t>RINGKASAN STATUS PENERIMAAN</a:t>
            </a:r>
          </a:p>
          <a:p>
            <a:pPr>
              <a:defRPr b="1" sz="1100">
                <a:solidFill>
                  <a:srgbClr val="10B981"/>
                </a:solidFill>
              </a:defRPr>
            </a:pPr>
            <a:r>
              <a:t>• Permohonan Dikabulkan Sepenuhnya : 100%</a:t>
            </a:r>
          </a:p>
          <a:p>
            <a:pPr>
              <a:spcAft>
                <a:spcPts val="600"/>
              </a:spcAft>
              <a:defRPr sz="950">
                <a:solidFill>
                  <a:srgbClr val="1E293B"/>
                </a:solidFill>
              </a:defRPr>
            </a:pPr>
            <a:r>
              <a:t>  Seluruh permintaan data publik yang masuk diselesaikan sesuai SOP tanpa adanya perselisihan.</a:t>
            </a:r>
          </a:p>
          <a:p>
            <a:pPr>
              <a:defRPr b="1" sz="1100">
                <a:solidFill>
                  <a:srgbClr val="004A99"/>
                </a:solidFill>
              </a:defRPr>
            </a:pPr>
            <a:r>
              <a:t>• Permohonan Ditolak : 0 (Nihil)</a:t>
            </a:r>
          </a:p>
          <a:p>
            <a:pPr>
              <a:spcAft>
                <a:spcPts val="600"/>
              </a:spcAft>
              <a:defRPr sz="950">
                <a:solidFill>
                  <a:srgbClr val="1E293B"/>
                </a:solidFill>
              </a:defRPr>
            </a:pPr>
            <a:r>
              <a:t>  Tidak terdapat penolakan permohonan informasi publik karena seluruh data yang diminta bersifat terbuka.</a:t>
            </a:r>
          </a:p>
          <a:p>
            <a:pPr>
              <a:defRPr b="1" sz="1100">
                <a:solidFill>
                  <a:srgbClr val="D97706"/>
                </a:solidFill>
              </a:defRPr>
            </a:pPr>
            <a:r>
              <a:t>• Permohonan Dalam Proses : 0 (Nihil)</a:t>
            </a:r>
          </a:p>
          <a:p>
            <a:pPr>
              <a:spcAft>
                <a:spcPts val="600"/>
              </a:spcAft>
              <a:defRPr sz="950">
                <a:solidFill>
                  <a:srgbClr val="1E293B"/>
                </a:solidFill>
              </a:defRPr>
            </a:pPr>
            <a:r>
              <a:t>  Tidak ada tumpukan (backlog) permohonan informasi yang tertunda di meja layanan.</a:t>
            </a:r>
          </a:p>
          <a:p>
            <a:pPr>
              <a:defRPr b="1" sz="1100">
                <a:solidFill>
                  <a:srgbClr val="0B2545"/>
                </a:solidFill>
              </a:defRPr>
            </a:pPr>
            <a:r>
              <a:t>• Sengketa Informasi Publik : 0 Kasus</a:t>
            </a:r>
          </a:p>
          <a:p>
            <a:pPr>
              <a:spcAft>
                <a:spcPts val="600"/>
              </a:spcAft>
              <a:defRPr sz="950">
                <a:solidFill>
                  <a:srgbClr val="1E293B"/>
                </a:solidFill>
              </a:defRPr>
            </a:pPr>
            <a:r>
              <a:t>  Kinerja layanan prima menghasilkan tingkat kepuasan tinggi dan zero dispute di Komisi Informasi.</a:t>
            </a:r>
          </a:p>
        </p:txBody>
      </p:sp>
      <p:sp>
        <p:nvSpPr>
          <p:cNvPr id="9" name="Rounded Rectangle 8"/>
          <p:cNvSpPr/>
          <p:nvPr/>
        </p:nvSpPr>
        <p:spPr>
          <a:xfrm>
            <a:off x="6217920" y="1554480"/>
            <a:ext cx="5212080" cy="4754880"/>
          </a:xfrm>
          <a:prstGeom prst="roundRect">
            <a:avLst/>
          </a:prstGeom>
          <a:solidFill>
            <a:srgbClr val="0B2545"/>
          </a:solidFill>
          <a:ln w="19050">
            <a:solidFill>
              <a:srgbClr val="FFB703"/>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400800" y="1737360"/>
            <a:ext cx="4846320" cy="4389120"/>
          </a:xfrm>
          <a:prstGeom prst="rect">
            <a:avLst/>
          </a:prstGeom>
          <a:noFill/>
        </p:spPr>
        <p:txBody>
          <a:bodyPr wrap="square">
            <a:spAutoFit/>
          </a:bodyPr>
          <a:lstStyle/>
          <a:p>
            <a:pPr>
              <a:spcAft>
                <a:spcPts val="1000"/>
              </a:spcAft>
              <a:defRPr b="1" sz="1300">
                <a:solidFill>
                  <a:srgbClr val="FFB703"/>
                </a:solidFill>
              </a:defRPr>
            </a:pPr>
            <a:r>
              <a:t>STANDAR WAKTU PENYELESAIAN (SLA)</a:t>
            </a:r>
          </a:p>
          <a:p>
            <a:pPr>
              <a:defRPr b="1" sz="1100">
                <a:solidFill>
                  <a:srgbClr val="FFB703"/>
                </a:solidFill>
              </a:defRPr>
            </a:pPr>
            <a:r>
              <a:t>⏱ Informasi Tersedia Langsung (Meja Layanan / Web)</a:t>
            </a:r>
          </a:p>
          <a:p>
            <a:pPr>
              <a:defRPr b="1" sz="1000">
                <a:solidFill>
                  <a:srgbClr val="FFFFFF"/>
                </a:solidFill>
              </a:defRPr>
            </a:pPr>
            <a:r>
              <a:t>   Batas Waktu: Maksimal 15 Menit / Real-time Download</a:t>
            </a:r>
          </a:p>
          <a:p>
            <a:pPr>
              <a:spcAft>
                <a:spcPts val="600"/>
              </a:spcAft>
              <a:defRPr sz="950">
                <a:solidFill>
                  <a:srgbClr val="E2E8F0"/>
                </a:solidFill>
              </a:defRPr>
            </a:pPr>
            <a:r>
              <a:t>   Untuk dokumen berkala yang telah terdokumentasi rapi di lemari arsip maupun portal E-PPID.</a:t>
            </a:r>
          </a:p>
          <a:p>
            <a:pPr>
              <a:defRPr b="1" sz="1100">
                <a:solidFill>
                  <a:srgbClr val="FFB703"/>
                </a:solidFill>
              </a:defRPr>
            </a:pPr>
            <a:r>
              <a:t>⏱ Permohonan Informasi Publik Standar</a:t>
            </a:r>
          </a:p>
          <a:p>
            <a:pPr>
              <a:defRPr b="1" sz="1000">
                <a:solidFill>
                  <a:srgbClr val="FFFFFF"/>
                </a:solidFill>
              </a:defRPr>
            </a:pPr>
            <a:r>
              <a:t>   Batas Waktu: 10 Hari Kerja (+ Perpanjangan 7 Hari)</a:t>
            </a:r>
          </a:p>
          <a:p>
            <a:pPr>
              <a:spcAft>
                <a:spcPts val="600"/>
              </a:spcAft>
              <a:defRPr sz="950">
                <a:solidFill>
                  <a:srgbClr val="E2E8F0"/>
                </a:solidFill>
              </a:defRPr>
            </a:pPr>
            <a:r>
              <a:t>   Sesuai amanat Pasal 22 UU KIP No. 14/2008 untuk penelusuran dokumen atau konfirmasi ke unit kerja terkait.</a:t>
            </a:r>
          </a:p>
          <a:p>
            <a:pPr>
              <a:defRPr b="1" sz="1100">
                <a:solidFill>
                  <a:srgbClr val="FFB703"/>
                </a:solidFill>
              </a:defRPr>
            </a:pPr>
            <a:r>
              <a:t>⏱ Tanggapan Pengajuan Keberatan Informasi</a:t>
            </a:r>
          </a:p>
          <a:p>
            <a:pPr>
              <a:defRPr b="1" sz="1000">
                <a:solidFill>
                  <a:srgbClr val="FFFFFF"/>
                </a:solidFill>
              </a:defRPr>
            </a:pPr>
            <a:r>
              <a:t>   Batas Waktu: Maksimal 30 Hari Kerja</a:t>
            </a:r>
          </a:p>
          <a:p>
            <a:pPr>
              <a:spcAft>
                <a:spcPts val="600"/>
              </a:spcAft>
              <a:defRPr sz="950">
                <a:solidFill>
                  <a:srgbClr val="E2E8F0"/>
                </a:solidFill>
              </a:defRPr>
            </a:pPr>
            <a:r>
              <a:t>   Ditanggapi langsung secara tertulis oleh Direktur PKTJ selaku Atasan PPID Pelaksana UPT.</a:t>
            </a:r>
          </a:p>
          <a:p>
            <a:pPr>
              <a:defRPr b="1" sz="1100">
                <a:solidFill>
                  <a:srgbClr val="FFB703"/>
                </a:solidFill>
              </a:defRPr>
            </a:pPr>
            <a:r>
              <a:t>⏱ Uji Konsekuensi Informasi Tertutup</a:t>
            </a:r>
          </a:p>
          <a:p>
            <a:pPr>
              <a:defRPr b="1" sz="1000">
                <a:solidFill>
                  <a:srgbClr val="FFFFFF"/>
                </a:solidFill>
              </a:defRPr>
            </a:pPr>
            <a:r>
              <a:t>   Batas Waktu: Maksimal 14 Hari Kerja</a:t>
            </a:r>
          </a:p>
          <a:p>
            <a:pPr>
              <a:spcAft>
                <a:spcPts val="600"/>
              </a:spcAft>
              <a:defRPr sz="950">
                <a:solidFill>
                  <a:srgbClr val="E2E8F0"/>
                </a:solidFill>
              </a:defRPr>
            </a:pPr>
            <a:r>
              <a:t>   Melibatkan tim pertimbangan hukum untuk menetapkan dokumen sebagai Informasi Dikecualikan (DIK).</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731520" y="365760"/>
            <a:ext cx="8686800" cy="1005840"/>
          </a:xfrm>
          <a:prstGeom prst="rect">
            <a:avLst/>
          </a:prstGeom>
          <a:noFill/>
        </p:spPr>
        <p:txBody>
          <a:bodyPr wrap="square" lIns="0" tIns="0" rIns="0" bIns="0">
            <a:spAutoFit/>
          </a:bodyPr>
          <a:lstStyle/>
          <a:p>
            <a:pPr>
              <a:defRPr sz="1000" b="1">
                <a:solidFill>
                  <a:srgbClr val="004A99"/>
                </a:solidFill>
                <a:latin typeface="Segoe UI"/>
              </a:defRPr>
            </a:pPr>
            <a:r>
              <a:t>PPID PELAKSANA UPT PKTJ TEGAL</a:t>
            </a:r>
          </a:p>
          <a:p>
            <a:pPr>
              <a:defRPr sz="2200" b="1">
                <a:solidFill>
                  <a:srgbClr val="0B2545"/>
                </a:solidFill>
                <a:latin typeface="Segoe UI"/>
              </a:defRPr>
            </a:pPr>
            <a:r>
              <a:t>KEDUDUKAN HUKUM &amp; TUJUAN PEMOHON INFORMASI PUBLIK</a:t>
            </a:r>
          </a:p>
        </p:txBody>
      </p:sp>
      <p:pic>
        <p:nvPicPr>
          <p:cNvPr id="3" name="Picture 2" descr="media_1789460385233.png"/>
          <p:cNvPicPr>
            <a:picLocks noChangeAspect="1"/>
          </p:cNvPicPr>
          <p:nvPr/>
        </p:nvPicPr>
        <p:blipFill>
          <a:blip r:embed="rId2"/>
          <a:stretch>
            <a:fillRect/>
          </a:stretch>
        </p:blipFill>
        <p:spPr>
          <a:xfrm>
            <a:off x="9601200" y="320040"/>
            <a:ext cx="594717" cy="685800"/>
          </a:xfrm>
          <a:prstGeom prst="rect">
            <a:avLst/>
          </a:prstGeom>
        </p:spPr>
      </p:pic>
      <p:pic>
        <p:nvPicPr>
          <p:cNvPr id="4" name="Picture 3" descr="media_1789460385231.png"/>
          <p:cNvPicPr>
            <a:picLocks noChangeAspect="1"/>
          </p:cNvPicPr>
          <p:nvPr/>
        </p:nvPicPr>
        <p:blipFill>
          <a:blip r:embed="rId3"/>
          <a:stretch>
            <a:fillRect/>
          </a:stretch>
        </p:blipFill>
        <p:spPr>
          <a:xfrm>
            <a:off x="10424160" y="411480"/>
            <a:ext cx="755117" cy="502920"/>
          </a:xfrm>
          <a:prstGeom prst="rect">
            <a:avLst/>
          </a:prstGeom>
        </p:spPr>
      </p:pic>
      <p:pic>
        <p:nvPicPr>
          <p:cNvPr id="5" name="Picture 4" descr="media_1789460385272.png"/>
          <p:cNvPicPr>
            <a:picLocks noChangeAspect="1"/>
          </p:cNvPicPr>
          <p:nvPr/>
        </p:nvPicPr>
        <p:blipFill>
          <a:blip r:embed="rId4"/>
          <a:stretch>
            <a:fillRect/>
          </a:stretch>
        </p:blipFill>
        <p:spPr>
          <a:xfrm>
            <a:off x="11247120" y="320040"/>
            <a:ext cx="685130" cy="685800"/>
          </a:xfrm>
          <a:prstGeom prst="rect">
            <a:avLst/>
          </a:prstGeom>
        </p:spPr>
      </p:pic>
      <p:sp>
        <p:nvSpPr>
          <p:cNvPr id="6" name="Rectangle 5"/>
          <p:cNvSpPr/>
          <p:nvPr/>
        </p:nvSpPr>
        <p:spPr>
          <a:xfrm>
            <a:off x="731520" y="1325880"/>
            <a:ext cx="10728655" cy="36576"/>
          </a:xfrm>
          <a:prstGeom prst="rect">
            <a:avLst/>
          </a:prstGeom>
          <a:solidFill>
            <a:srgbClr val="0284C7"/>
          </a:solidFill>
          <a:ln>
            <a:solidFill>
              <a:srgbClr val="0284C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731520" y="1554480"/>
            <a:ext cx="5212080" cy="2286000"/>
          </a:xfrm>
          <a:prstGeom prst="roundRect">
            <a:avLst/>
          </a:prstGeom>
          <a:solidFill>
            <a:srgbClr val="FFFFFF"/>
          </a:solidFill>
          <a:ln w="1905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914400" y="1691640"/>
            <a:ext cx="4846320" cy="2011680"/>
          </a:xfrm>
          <a:prstGeom prst="rect">
            <a:avLst/>
          </a:prstGeom>
          <a:noFill/>
        </p:spPr>
        <p:txBody>
          <a:bodyPr wrap="square">
            <a:spAutoFit/>
          </a:bodyPr>
          <a:lstStyle/>
          <a:p>
            <a:pPr>
              <a:defRPr b="1" sz="1200">
                <a:solidFill>
                  <a:srgbClr val="004A99"/>
                </a:solidFill>
              </a:defRPr>
            </a:pPr>
            <a:r>
              <a:t>1. WARGA NEGARA INDONESIA (PERORANGAN)</a:t>
            </a:r>
          </a:p>
          <a:p>
            <a:r>
              <a:t>• Syarat: KTP Warga Negara Indonesia sah yang masih berlaku.</a:t>
            </a:r>
          </a:p>
          <a:p>
            <a:r>
              <a:t>• Tujuan Permohonan: Pemenuhan hak tahu masyarakat, advokasi keselamatan jalan, atau kepelaporan publik.</a:t>
            </a:r>
          </a:p>
          <a:p>
            <a:r>
              <a:t>• Format Layanan: Meja Layanan Fisik &amp; Portal Online ppid.pktj.ac.id.</a:t>
            </a:r>
          </a:p>
        </p:txBody>
      </p:sp>
      <p:sp>
        <p:nvSpPr>
          <p:cNvPr id="9" name="Rounded Rectangle 8"/>
          <p:cNvSpPr/>
          <p:nvPr/>
        </p:nvSpPr>
        <p:spPr>
          <a:xfrm>
            <a:off x="6217920" y="1554480"/>
            <a:ext cx="5212080" cy="2286000"/>
          </a:xfrm>
          <a:prstGeom prst="roundRect">
            <a:avLst/>
          </a:prstGeom>
          <a:solidFill>
            <a:srgbClr val="FFFFFF"/>
          </a:solidFill>
          <a:ln w="1905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400800" y="1691640"/>
            <a:ext cx="4846320" cy="2011680"/>
          </a:xfrm>
          <a:prstGeom prst="rect">
            <a:avLst/>
          </a:prstGeom>
          <a:noFill/>
        </p:spPr>
        <p:txBody>
          <a:bodyPr wrap="square">
            <a:spAutoFit/>
          </a:bodyPr>
          <a:lstStyle/>
          <a:p>
            <a:pPr>
              <a:defRPr b="1" sz="1200">
                <a:solidFill>
                  <a:srgbClr val="004A99"/>
                </a:solidFill>
              </a:defRPr>
            </a:pPr>
            <a:r>
              <a:t>2. CIVITAS AKADEMIKA &amp; PENELITI</a:t>
            </a:r>
          </a:p>
          <a:p>
            <a:r>
              <a:t>• Syarat: Kartu Tanda Taruna/Mahasiswa &amp; Surat Pengantar Riset.</a:t>
            </a:r>
          </a:p>
          <a:p>
            <a:r>
              <a:t>• Tujuan Permohonan: Keperluan tugas akhir, skripsi terapan, riset rekayasa keselamatan jalan, dan studi otomotif.</a:t>
            </a:r>
          </a:p>
          <a:p>
            <a:r>
              <a:t>• Pendampingan: Dibimbing langsung oleh pengelola data teknis PKTJ.</a:t>
            </a:r>
          </a:p>
        </p:txBody>
      </p:sp>
      <p:sp>
        <p:nvSpPr>
          <p:cNvPr id="11" name="Rounded Rectangle 10"/>
          <p:cNvSpPr/>
          <p:nvPr/>
        </p:nvSpPr>
        <p:spPr>
          <a:xfrm>
            <a:off x="731520" y="4023360"/>
            <a:ext cx="5212080" cy="2286000"/>
          </a:xfrm>
          <a:prstGeom prst="roundRect">
            <a:avLst/>
          </a:prstGeom>
          <a:solidFill>
            <a:srgbClr val="FFFFFF"/>
          </a:solidFill>
          <a:ln w="1905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914400" y="4160520"/>
            <a:ext cx="4846320" cy="2011680"/>
          </a:xfrm>
          <a:prstGeom prst="rect">
            <a:avLst/>
          </a:prstGeom>
          <a:noFill/>
        </p:spPr>
        <p:txBody>
          <a:bodyPr wrap="square">
            <a:spAutoFit/>
          </a:bodyPr>
          <a:lstStyle/>
          <a:p>
            <a:pPr>
              <a:defRPr b="1" sz="1200">
                <a:solidFill>
                  <a:srgbClr val="004A99"/>
                </a:solidFill>
              </a:defRPr>
            </a:pPr>
            <a:r>
              <a:t>3. KELOMPOK ORANG / KOMUNITAS TRANSPORTASI</a:t>
            </a:r>
          </a:p>
          <a:p>
            <a:r>
              <a:t>• Syarat: Surat Kuasa dari kelompok dan KTP pemberi kuasa.</a:t>
            </a:r>
          </a:p>
          <a:p>
            <a:r>
              <a:t>• Tujuan Permohonan: Studi banding kebijakan keselamatan berkendara, edukasi pelopor jalan, dan kajian teknis jalan raya.</a:t>
            </a:r>
          </a:p>
          <a:p>
            <a:r>
              <a:t>• Fasilitas: Akses ruang konsultasi PPID Kampus Margadana.</a:t>
            </a:r>
          </a:p>
        </p:txBody>
      </p:sp>
      <p:sp>
        <p:nvSpPr>
          <p:cNvPr id="13" name="Rounded Rectangle 12"/>
          <p:cNvSpPr/>
          <p:nvPr/>
        </p:nvSpPr>
        <p:spPr>
          <a:xfrm>
            <a:off x="6217920" y="4023360"/>
            <a:ext cx="5212080" cy="2286000"/>
          </a:xfrm>
          <a:prstGeom prst="roundRect">
            <a:avLst/>
          </a:prstGeom>
          <a:solidFill>
            <a:srgbClr val="FFFFFF"/>
          </a:solidFill>
          <a:ln w="1905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6400800" y="4160520"/>
            <a:ext cx="4846320" cy="2011680"/>
          </a:xfrm>
          <a:prstGeom prst="rect">
            <a:avLst/>
          </a:prstGeom>
          <a:noFill/>
        </p:spPr>
        <p:txBody>
          <a:bodyPr wrap="square">
            <a:spAutoFit/>
          </a:bodyPr>
          <a:lstStyle/>
          <a:p>
            <a:pPr>
              <a:defRPr b="1" sz="1200">
                <a:solidFill>
                  <a:srgbClr val="004A99"/>
                </a:solidFill>
              </a:defRPr>
            </a:pPr>
            <a:r>
              <a:t>4. BADAN HUKUM INDONESIA &amp; PERS</a:t>
            </a:r>
          </a:p>
          <a:p>
            <a:r>
              <a:t>• Syarat: Akta Notaris/Pengesahan Kemenkumham &amp; Surat Permohonan Resmi.</a:t>
            </a:r>
          </a:p>
          <a:p>
            <a:r>
              <a:t>• Tujuan Permohonan: Peliputan jurnalistik yang berimbang, kemitraan industri otomotif/keselamatan, dan audit transparansi.</a:t>
            </a:r>
          </a:p>
          <a:p>
            <a:r>
              <a:t>• Sifat Layanan: Terbuka dan bebas biaya (Zero Rupiah Policy).</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731520" y="365760"/>
            <a:ext cx="8686800" cy="1005840"/>
          </a:xfrm>
          <a:prstGeom prst="rect">
            <a:avLst/>
          </a:prstGeom>
          <a:noFill/>
        </p:spPr>
        <p:txBody>
          <a:bodyPr wrap="square" lIns="0" tIns="0" rIns="0" bIns="0">
            <a:spAutoFit/>
          </a:bodyPr>
          <a:lstStyle/>
          <a:p>
            <a:pPr>
              <a:defRPr sz="1000" b="1">
                <a:solidFill>
                  <a:srgbClr val="004A99"/>
                </a:solidFill>
                <a:latin typeface="Segoe UI"/>
              </a:defRPr>
            </a:pPr>
            <a:r>
              <a:t>PPID PELAKSANA UPT PKTJ TEGAL</a:t>
            </a:r>
          </a:p>
          <a:p>
            <a:pPr>
              <a:defRPr sz="2200" b="1">
                <a:solidFill>
                  <a:srgbClr val="0B2545"/>
                </a:solidFill>
                <a:latin typeface="Segoe UI"/>
              </a:defRPr>
            </a:pPr>
            <a:r>
              <a:t>ROADMAP &amp; RENCANA INOVASI PPID PKTJ MENUJU PREDIKAT INFORMATIF</a:t>
            </a:r>
          </a:p>
        </p:txBody>
      </p:sp>
      <p:pic>
        <p:nvPicPr>
          <p:cNvPr id="3" name="Picture 2" descr="media_1789460385233.png"/>
          <p:cNvPicPr>
            <a:picLocks noChangeAspect="1"/>
          </p:cNvPicPr>
          <p:nvPr/>
        </p:nvPicPr>
        <p:blipFill>
          <a:blip r:embed="rId2"/>
          <a:stretch>
            <a:fillRect/>
          </a:stretch>
        </p:blipFill>
        <p:spPr>
          <a:xfrm>
            <a:off x="9601200" y="320040"/>
            <a:ext cx="594717" cy="685800"/>
          </a:xfrm>
          <a:prstGeom prst="rect">
            <a:avLst/>
          </a:prstGeom>
        </p:spPr>
      </p:pic>
      <p:pic>
        <p:nvPicPr>
          <p:cNvPr id="4" name="Picture 3" descr="media_1789460385231.png"/>
          <p:cNvPicPr>
            <a:picLocks noChangeAspect="1"/>
          </p:cNvPicPr>
          <p:nvPr/>
        </p:nvPicPr>
        <p:blipFill>
          <a:blip r:embed="rId3"/>
          <a:stretch>
            <a:fillRect/>
          </a:stretch>
        </p:blipFill>
        <p:spPr>
          <a:xfrm>
            <a:off x="10424160" y="411480"/>
            <a:ext cx="755117" cy="502920"/>
          </a:xfrm>
          <a:prstGeom prst="rect">
            <a:avLst/>
          </a:prstGeom>
        </p:spPr>
      </p:pic>
      <p:pic>
        <p:nvPicPr>
          <p:cNvPr id="5" name="Picture 4" descr="media_1789460385272.png"/>
          <p:cNvPicPr>
            <a:picLocks noChangeAspect="1"/>
          </p:cNvPicPr>
          <p:nvPr/>
        </p:nvPicPr>
        <p:blipFill>
          <a:blip r:embed="rId4"/>
          <a:stretch>
            <a:fillRect/>
          </a:stretch>
        </p:blipFill>
        <p:spPr>
          <a:xfrm>
            <a:off x="11247120" y="320040"/>
            <a:ext cx="685130" cy="685800"/>
          </a:xfrm>
          <a:prstGeom prst="rect">
            <a:avLst/>
          </a:prstGeom>
        </p:spPr>
      </p:pic>
      <p:sp>
        <p:nvSpPr>
          <p:cNvPr id="6" name="Rectangle 5"/>
          <p:cNvSpPr/>
          <p:nvPr/>
        </p:nvSpPr>
        <p:spPr>
          <a:xfrm>
            <a:off x="731520" y="1325880"/>
            <a:ext cx="10728655" cy="36576"/>
          </a:xfrm>
          <a:prstGeom prst="rect">
            <a:avLst/>
          </a:prstGeom>
          <a:solidFill>
            <a:srgbClr val="0284C7"/>
          </a:solidFill>
          <a:ln>
            <a:solidFill>
              <a:srgbClr val="0284C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731520" y="1554480"/>
            <a:ext cx="3383280" cy="4754880"/>
          </a:xfrm>
          <a:prstGeom prst="roundRect">
            <a:avLst/>
          </a:prstGeom>
          <a:solidFill>
            <a:srgbClr val="FFFFFF"/>
          </a:solidFill>
          <a:ln w="1905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ounded Rectangle 7"/>
          <p:cNvSpPr/>
          <p:nvPr/>
        </p:nvSpPr>
        <p:spPr>
          <a:xfrm>
            <a:off x="731520" y="1554480"/>
            <a:ext cx="3383280" cy="640080"/>
          </a:xfrm>
          <a:prstGeom prst="roundRect">
            <a:avLst/>
          </a:prstGeom>
          <a:solidFill>
            <a:srgbClr val="004A9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defRPr b="1" sz="1200">
                <a:solidFill>
                  <a:srgbClr val="FFFFFF"/>
                </a:solidFill>
              </a:defRPr>
            </a:pPr>
            <a:r>
              <a:t>INOVASI 1: DIGITALISASI</a:t>
            </a:r>
          </a:p>
        </p:txBody>
      </p:sp>
      <p:sp>
        <p:nvSpPr>
          <p:cNvPr id="9" name="TextBox 8"/>
          <p:cNvSpPr txBox="1"/>
          <p:nvPr/>
        </p:nvSpPr>
        <p:spPr>
          <a:xfrm>
            <a:off x="868680" y="2331720"/>
            <a:ext cx="3108960" cy="3840480"/>
          </a:xfrm>
          <a:prstGeom prst="rect">
            <a:avLst/>
          </a:prstGeom>
          <a:noFill/>
        </p:spPr>
        <p:txBody>
          <a:bodyPr wrap="square">
            <a:spAutoFit/>
          </a:bodyPr>
          <a:lstStyle/>
          <a:p>
            <a:pPr>
              <a:defRPr b="1" sz="1100">
                <a:solidFill>
                  <a:srgbClr val="004A99"/>
                </a:solidFill>
              </a:defRPr>
            </a:pPr>
            <a:r>
              <a:t>E-PPID SELF-SERVICE &amp; CLOUD ARCHIVE</a:t>
            </a:r>
          </a:p>
          <a:p/>
          <a:p>
            <a:r>
              <a:t>• Integrasi unduh instan seluruh 25 Informasi Berkala, 10 Informasi Setiap Saat, dan 3 Informasi Serta Merta tanpa verifikasi manual.</a:t>
            </a:r>
          </a:p>
          <a:p>
            <a:r>
              <a:t>• Tautan berkas langsung ke cloud Google Drive resmi PPID PKTJ.</a:t>
            </a:r>
          </a:p>
          <a:p>
            <a:r>
              <a:t>• Sistem pencarian cepat berbasis kata kunci pada portal ppid.pktj.ac.id.</a:t>
            </a:r>
          </a:p>
        </p:txBody>
      </p:sp>
      <p:sp>
        <p:nvSpPr>
          <p:cNvPr id="10" name="Rounded Rectangle 9"/>
          <p:cNvSpPr/>
          <p:nvPr/>
        </p:nvSpPr>
        <p:spPr>
          <a:xfrm>
            <a:off x="4389120" y="1554480"/>
            <a:ext cx="3383280" cy="4754880"/>
          </a:xfrm>
          <a:prstGeom prst="roundRect">
            <a:avLst/>
          </a:prstGeom>
          <a:solidFill>
            <a:srgbClr val="FFFFFF"/>
          </a:solidFill>
          <a:ln w="1905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ounded Rectangle 10"/>
          <p:cNvSpPr/>
          <p:nvPr/>
        </p:nvSpPr>
        <p:spPr>
          <a:xfrm>
            <a:off x="4389120" y="1554480"/>
            <a:ext cx="3383280" cy="640080"/>
          </a:xfrm>
          <a:prstGeom prst="roundRect">
            <a:avLst/>
          </a:prstGeom>
          <a:solidFill>
            <a:srgbClr val="D9770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defRPr b="1" sz="1200">
                <a:solidFill>
                  <a:srgbClr val="FFFFFF"/>
                </a:solidFill>
              </a:defRPr>
            </a:pPr>
            <a:r>
              <a:t>INOVASI 2: INKLUSIVITAS</a:t>
            </a:r>
          </a:p>
        </p:txBody>
      </p:sp>
      <p:sp>
        <p:nvSpPr>
          <p:cNvPr id="12" name="TextBox 11"/>
          <p:cNvSpPr txBox="1"/>
          <p:nvPr/>
        </p:nvSpPr>
        <p:spPr>
          <a:xfrm>
            <a:off x="4526280" y="2331720"/>
            <a:ext cx="3108960" cy="3840480"/>
          </a:xfrm>
          <a:prstGeom prst="rect">
            <a:avLst/>
          </a:prstGeom>
          <a:noFill/>
        </p:spPr>
        <p:txBody>
          <a:bodyPr wrap="square">
            <a:spAutoFit/>
          </a:bodyPr>
          <a:lstStyle/>
          <a:p>
            <a:pPr>
              <a:defRPr b="1" sz="1100">
                <a:solidFill>
                  <a:srgbClr val="D97706"/>
                </a:solidFill>
              </a:defRPr>
            </a:pPr>
            <a:r>
              <a:t>POJOK PPID &amp; RAMAH DISABILITAS</a:t>
            </a:r>
          </a:p>
          <a:p/>
          <a:p>
            <a:r>
              <a:t>• Pembangunan Ruang Khusus Pelayanan PPID terintegrasi dengan Pojok Baca Digital Keselamatan Transportasi.</a:t>
            </a:r>
          </a:p>
          <a:p>
            <a:r>
              <a:t>• Penyediaan fasilitas ramah disabilitas: ramp landai, kursi roda, formulir huruf besar (large-print), dan pendampingan petugas.</a:t>
            </a:r>
          </a:p>
          <a:p>
            <a:r>
              <a:t>• Ruang laktasi dan loket prioritas lansia/difabel.</a:t>
            </a:r>
          </a:p>
        </p:txBody>
      </p:sp>
      <p:sp>
        <p:nvSpPr>
          <p:cNvPr id="13" name="Rounded Rectangle 12"/>
          <p:cNvSpPr/>
          <p:nvPr/>
        </p:nvSpPr>
        <p:spPr>
          <a:xfrm>
            <a:off x="8046720" y="1554480"/>
            <a:ext cx="3383280" cy="4754880"/>
          </a:xfrm>
          <a:prstGeom prst="roundRect">
            <a:avLst/>
          </a:prstGeom>
          <a:solidFill>
            <a:srgbClr val="FFFFFF"/>
          </a:solidFill>
          <a:ln w="1905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ounded Rectangle 13"/>
          <p:cNvSpPr/>
          <p:nvPr/>
        </p:nvSpPr>
        <p:spPr>
          <a:xfrm>
            <a:off x="8046720" y="1554480"/>
            <a:ext cx="3383280" cy="640080"/>
          </a:xfrm>
          <a:prstGeom prst="roundRect">
            <a:avLst/>
          </a:prstGeom>
          <a:solidFill>
            <a:srgbClr val="0B254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defRPr b="1" sz="1200">
                <a:solidFill>
                  <a:srgbClr val="FFFFFF"/>
                </a:solidFill>
              </a:defRPr>
            </a:pPr>
            <a:r>
              <a:t>INOVASI 3: KONTEN KREATIF</a:t>
            </a:r>
          </a:p>
        </p:txBody>
      </p:sp>
      <p:sp>
        <p:nvSpPr>
          <p:cNvPr id="15" name="TextBox 14"/>
          <p:cNvSpPr txBox="1"/>
          <p:nvPr/>
        </p:nvSpPr>
        <p:spPr>
          <a:xfrm>
            <a:off x="8183879" y="2331720"/>
            <a:ext cx="3108960" cy="3840480"/>
          </a:xfrm>
          <a:prstGeom prst="rect">
            <a:avLst/>
          </a:prstGeom>
          <a:noFill/>
        </p:spPr>
        <p:txBody>
          <a:bodyPr wrap="square">
            <a:spAutoFit/>
          </a:bodyPr>
          <a:lstStyle/>
          <a:p>
            <a:pPr>
              <a:defRPr b="1" sz="1100">
                <a:solidFill>
                  <a:srgbClr val="0B2545"/>
                </a:solidFill>
              </a:defRPr>
            </a:pPr>
            <a:r>
              <a:t>CONTENT MAKEOVER &amp; SOSIAL MEDIA</a:t>
            </a:r>
          </a:p>
          <a:p/>
          <a:p>
            <a:r>
              <a:t>• Transformasi data kinerja dan keuangan PKTJ menjadi infografis &amp; motion graphic interaktif di Instagram @pktj_tegal.</a:t>
            </a:r>
          </a:p>
          <a:p>
            <a:r>
              <a:t>• Penayangan tagar #InformasiBerkalaPKTJ secara rutin per triwulan.</a:t>
            </a:r>
          </a:p>
          <a:p>
            <a:r>
              <a:t>• Publikasi hasil pengujian kelayakan kendaraan dan keselamatan jalan sebagai edukasi nasional.</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731520" y="365760"/>
            <a:ext cx="8686800" cy="1005840"/>
          </a:xfrm>
          <a:prstGeom prst="rect">
            <a:avLst/>
          </a:prstGeom>
          <a:noFill/>
        </p:spPr>
        <p:txBody>
          <a:bodyPr wrap="square" lIns="0" tIns="0" rIns="0" bIns="0">
            <a:spAutoFit/>
          </a:bodyPr>
          <a:lstStyle/>
          <a:p>
            <a:pPr>
              <a:defRPr sz="1000" b="1">
                <a:solidFill>
                  <a:srgbClr val="004A99"/>
                </a:solidFill>
                <a:latin typeface="Segoe UI"/>
              </a:defRPr>
            </a:pPr>
            <a:r>
              <a:t>PPID PELAKSANA UPT PKTJ TEGAL</a:t>
            </a:r>
          </a:p>
          <a:p>
            <a:pPr>
              <a:defRPr sz="2200" b="1">
                <a:solidFill>
                  <a:srgbClr val="0B2545"/>
                </a:solidFill>
                <a:latin typeface="Segoe UI"/>
              </a:defRPr>
            </a:pPr>
            <a:r>
              <a:t>KESIMPULAN, EVALUASI, DAN REKOMENDASI SARAN</a:t>
            </a:r>
          </a:p>
        </p:txBody>
      </p:sp>
      <p:pic>
        <p:nvPicPr>
          <p:cNvPr id="3" name="Picture 2" descr="media_1789460385233.png"/>
          <p:cNvPicPr>
            <a:picLocks noChangeAspect="1"/>
          </p:cNvPicPr>
          <p:nvPr/>
        </p:nvPicPr>
        <p:blipFill>
          <a:blip r:embed="rId2"/>
          <a:stretch>
            <a:fillRect/>
          </a:stretch>
        </p:blipFill>
        <p:spPr>
          <a:xfrm>
            <a:off x="9601200" y="320040"/>
            <a:ext cx="594717" cy="685800"/>
          </a:xfrm>
          <a:prstGeom prst="rect">
            <a:avLst/>
          </a:prstGeom>
        </p:spPr>
      </p:pic>
      <p:pic>
        <p:nvPicPr>
          <p:cNvPr id="4" name="Picture 3" descr="media_1789460385231.png"/>
          <p:cNvPicPr>
            <a:picLocks noChangeAspect="1"/>
          </p:cNvPicPr>
          <p:nvPr/>
        </p:nvPicPr>
        <p:blipFill>
          <a:blip r:embed="rId3"/>
          <a:stretch>
            <a:fillRect/>
          </a:stretch>
        </p:blipFill>
        <p:spPr>
          <a:xfrm>
            <a:off x="10424160" y="411480"/>
            <a:ext cx="755117" cy="502920"/>
          </a:xfrm>
          <a:prstGeom prst="rect">
            <a:avLst/>
          </a:prstGeom>
        </p:spPr>
      </p:pic>
      <p:pic>
        <p:nvPicPr>
          <p:cNvPr id="5" name="Picture 4" descr="media_1789460385272.png"/>
          <p:cNvPicPr>
            <a:picLocks noChangeAspect="1"/>
          </p:cNvPicPr>
          <p:nvPr/>
        </p:nvPicPr>
        <p:blipFill>
          <a:blip r:embed="rId4"/>
          <a:stretch>
            <a:fillRect/>
          </a:stretch>
        </p:blipFill>
        <p:spPr>
          <a:xfrm>
            <a:off x="11247120" y="320040"/>
            <a:ext cx="685130" cy="685800"/>
          </a:xfrm>
          <a:prstGeom prst="rect">
            <a:avLst/>
          </a:prstGeom>
        </p:spPr>
      </p:pic>
      <p:sp>
        <p:nvSpPr>
          <p:cNvPr id="6" name="Rectangle 5"/>
          <p:cNvSpPr/>
          <p:nvPr/>
        </p:nvSpPr>
        <p:spPr>
          <a:xfrm>
            <a:off x="731520" y="1325880"/>
            <a:ext cx="10728655" cy="36576"/>
          </a:xfrm>
          <a:prstGeom prst="rect">
            <a:avLst/>
          </a:prstGeom>
          <a:solidFill>
            <a:srgbClr val="0284C7"/>
          </a:solidFill>
          <a:ln>
            <a:solidFill>
              <a:srgbClr val="0284C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731520" y="1554480"/>
            <a:ext cx="3383280" cy="4754880"/>
          </a:xfrm>
          <a:prstGeom prst="roundRect">
            <a:avLst/>
          </a:prstGeom>
          <a:solidFill>
            <a:srgbClr val="FFFFFF"/>
          </a:solidFill>
          <a:ln w="1905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ounded Rectangle 7"/>
          <p:cNvSpPr/>
          <p:nvPr/>
        </p:nvSpPr>
        <p:spPr>
          <a:xfrm>
            <a:off x="731520" y="1554480"/>
            <a:ext cx="3383280" cy="640080"/>
          </a:xfrm>
          <a:prstGeom prst="roundRect">
            <a:avLst/>
          </a:prstGeom>
          <a:solidFill>
            <a:srgbClr val="004A9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defRPr b="1" sz="1200">
                <a:solidFill>
                  <a:srgbClr val="FFFFFF"/>
                </a:solidFill>
              </a:defRPr>
            </a:pPr>
            <a:r>
              <a:t>KESIMPULAN CAPAIAN</a:t>
            </a:r>
          </a:p>
        </p:txBody>
      </p:sp>
      <p:sp>
        <p:nvSpPr>
          <p:cNvPr id="9" name="TextBox 8"/>
          <p:cNvSpPr txBox="1"/>
          <p:nvPr/>
        </p:nvSpPr>
        <p:spPr>
          <a:xfrm>
            <a:off x="868680" y="2331720"/>
            <a:ext cx="3108960" cy="3840480"/>
          </a:xfrm>
          <a:prstGeom prst="rect">
            <a:avLst/>
          </a:prstGeom>
          <a:noFill/>
        </p:spPr>
        <p:txBody>
          <a:bodyPr wrap="square">
            <a:spAutoFit/>
          </a:bodyPr>
          <a:lstStyle/>
          <a:p>
            <a:pPr>
              <a:spcAft>
                <a:spcPts val="1000"/>
              </a:spcAft>
              <a:defRPr sz="1000">
                <a:solidFill>
                  <a:srgbClr val="1E293B"/>
                </a:solidFill>
              </a:defRPr>
            </a:pPr>
            <a:r>
              <a:t>✓ Lonjakan Signifikan AKIP 2025: Berhasil meraih nilai 89,0 (Predikat Menuju Informatif) dan menempati Peringkat ke-3 se-Kemenhub.</a:t>
            </a:r>
          </a:p>
          <a:p>
            <a:pPr>
              <a:spcAft>
                <a:spcPts val="1000"/>
              </a:spcAft>
              <a:defRPr sz="1000">
                <a:solidFill>
                  <a:srgbClr val="1E293B"/>
                </a:solidFill>
              </a:defRPr>
            </a:pPr>
            <a:r>
              <a:t>✓ Nihil Sengketa: Pengelolaan informasi berlangsung tertib dengan tingkat permohonan sengketa nol (0).</a:t>
            </a:r>
          </a:p>
          <a:p>
            <a:pPr>
              <a:spcAft>
                <a:spcPts val="1000"/>
              </a:spcAft>
              <a:defRPr sz="1000">
                <a:solidFill>
                  <a:srgbClr val="1E293B"/>
                </a:solidFill>
              </a:defRPr>
            </a:pPr>
            <a:r>
              <a:t>✓ Kesiapan Infrastruktur: Website ppid.pktj.ac.id beroperasi penuh melayani publik dan sivitas akademika secara transparan.</a:t>
            </a:r>
          </a:p>
        </p:txBody>
      </p:sp>
      <p:sp>
        <p:nvSpPr>
          <p:cNvPr id="10" name="Rounded Rectangle 9"/>
          <p:cNvSpPr/>
          <p:nvPr/>
        </p:nvSpPr>
        <p:spPr>
          <a:xfrm>
            <a:off x="4389120" y="1554480"/>
            <a:ext cx="3383280" cy="4754880"/>
          </a:xfrm>
          <a:prstGeom prst="roundRect">
            <a:avLst/>
          </a:prstGeom>
          <a:solidFill>
            <a:srgbClr val="FFFFFF"/>
          </a:solidFill>
          <a:ln w="1905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ounded Rectangle 10"/>
          <p:cNvSpPr/>
          <p:nvPr/>
        </p:nvSpPr>
        <p:spPr>
          <a:xfrm>
            <a:off x="4389120" y="1554480"/>
            <a:ext cx="3383280" cy="640080"/>
          </a:xfrm>
          <a:prstGeom prst="roundRect">
            <a:avLst/>
          </a:prstGeom>
          <a:solidFill>
            <a:srgbClr val="D9770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defRPr b="1" sz="1200">
                <a:solidFill>
                  <a:srgbClr val="FFFFFF"/>
                </a:solidFill>
              </a:defRPr>
            </a:pPr>
            <a:r>
              <a:t>EVALUASI KINERJA</a:t>
            </a:r>
          </a:p>
        </p:txBody>
      </p:sp>
      <p:sp>
        <p:nvSpPr>
          <p:cNvPr id="12" name="TextBox 11"/>
          <p:cNvSpPr txBox="1"/>
          <p:nvPr/>
        </p:nvSpPr>
        <p:spPr>
          <a:xfrm>
            <a:off x="4526280" y="2331720"/>
            <a:ext cx="3108960" cy="3840480"/>
          </a:xfrm>
          <a:prstGeom prst="rect">
            <a:avLst/>
          </a:prstGeom>
          <a:noFill/>
        </p:spPr>
        <p:txBody>
          <a:bodyPr wrap="square">
            <a:spAutoFit/>
          </a:bodyPr>
          <a:lstStyle/>
          <a:p>
            <a:pPr>
              <a:spcAft>
                <a:spcPts val="1000"/>
              </a:spcAft>
              <a:defRPr sz="1000">
                <a:solidFill>
                  <a:srgbClr val="1E293B"/>
                </a:solidFill>
              </a:defRPr>
            </a:pPr>
            <a:r>
              <a:t>⚠ Pemutakhiran Berkala: Masih perlu ditingkatkan jadwal sinkronisasi dokumen per triwulan agar tidak menumpuk di akhir tahun.</a:t>
            </a:r>
          </a:p>
          <a:p>
            <a:pPr>
              <a:spcAft>
                <a:spcPts val="1000"/>
              </a:spcAft>
              <a:defRPr sz="1000">
                <a:solidFill>
                  <a:srgbClr val="1E293B"/>
                </a:solidFill>
              </a:defRPr>
            </a:pPr>
            <a:r>
              <a:t>⚠ Dokumen Barjas: Perlu kelengkapan dokumen pengadaan barang dan jasa satu paket utuh (RUP, KAK, HPS, Kontrak, BAST).</a:t>
            </a:r>
          </a:p>
          <a:p>
            <a:pPr>
              <a:spcAft>
                <a:spcPts val="1000"/>
              </a:spcAft>
              <a:defRPr sz="1000">
                <a:solidFill>
                  <a:srgbClr val="1E293B"/>
                </a:solidFill>
              </a:defRPr>
            </a:pPr>
            <a:r>
              <a:t>⚠ Struktur Organisasi Website: Menyempurnakan diagram struktur dan SK tim PPID agar selalu mutakhir sesuai mutasi pejabat.</a:t>
            </a:r>
          </a:p>
        </p:txBody>
      </p:sp>
      <p:sp>
        <p:nvSpPr>
          <p:cNvPr id="13" name="Rounded Rectangle 12"/>
          <p:cNvSpPr/>
          <p:nvPr/>
        </p:nvSpPr>
        <p:spPr>
          <a:xfrm>
            <a:off x="8046720" y="1554480"/>
            <a:ext cx="3383280" cy="4754880"/>
          </a:xfrm>
          <a:prstGeom prst="roundRect">
            <a:avLst/>
          </a:prstGeom>
          <a:solidFill>
            <a:srgbClr val="FFFFFF"/>
          </a:solidFill>
          <a:ln w="1905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ounded Rectangle 13"/>
          <p:cNvSpPr/>
          <p:nvPr/>
        </p:nvSpPr>
        <p:spPr>
          <a:xfrm>
            <a:off x="8046720" y="1554480"/>
            <a:ext cx="3383280" cy="640080"/>
          </a:xfrm>
          <a:prstGeom prst="roundRect">
            <a:avLst/>
          </a:prstGeom>
          <a:solidFill>
            <a:srgbClr val="10B98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defRPr b="1" sz="1200">
                <a:solidFill>
                  <a:srgbClr val="FFFFFF"/>
                </a:solidFill>
              </a:defRPr>
            </a:pPr>
            <a:r>
              <a:t>SARAN &amp; TINDAK LANJUT</a:t>
            </a:r>
          </a:p>
        </p:txBody>
      </p:sp>
      <p:sp>
        <p:nvSpPr>
          <p:cNvPr id="15" name="TextBox 14"/>
          <p:cNvSpPr txBox="1"/>
          <p:nvPr/>
        </p:nvSpPr>
        <p:spPr>
          <a:xfrm>
            <a:off x="8183879" y="2331720"/>
            <a:ext cx="3108960" cy="3840480"/>
          </a:xfrm>
          <a:prstGeom prst="rect">
            <a:avLst/>
          </a:prstGeom>
          <a:noFill/>
        </p:spPr>
        <p:txBody>
          <a:bodyPr wrap="square">
            <a:spAutoFit/>
          </a:bodyPr>
          <a:lstStyle/>
          <a:p>
            <a:pPr>
              <a:spcAft>
                <a:spcPts val="1000"/>
              </a:spcAft>
              <a:defRPr sz="1000">
                <a:solidFill>
                  <a:srgbClr val="1E293B"/>
                </a:solidFill>
              </a:defRPr>
            </a:pPr>
            <a:r>
              <a:t>★ Target Informatif 2026: Mempersiapkan dokumen evaluasi AKIP 2026 secara dini untuk menembus skor di atas 90.</a:t>
            </a:r>
          </a:p>
          <a:p>
            <a:pPr>
              <a:spcAft>
                <a:spcPts val="1000"/>
              </a:spcAft>
              <a:defRPr sz="1000">
                <a:solidFill>
                  <a:srgbClr val="1E293B"/>
                </a:solidFill>
              </a:defRPr>
            </a:pPr>
            <a:r>
              <a:t>★ Penguatan SDM Layanan: Pelatihan berkala bagi petugas front office mengenai standar keramahan dan penanganan difabel.</a:t>
            </a:r>
          </a:p>
          <a:p>
            <a:pPr>
              <a:spcAft>
                <a:spcPts val="1000"/>
              </a:spcAft>
              <a:defRPr sz="1000">
                <a:solidFill>
                  <a:srgbClr val="1E293B"/>
                </a:solidFill>
              </a:defRPr>
            </a:pPr>
            <a:r>
              <a:t>★ Pemanfaatan Multikanal: Memperbanyak konten video singkat infografis layanan PPID di kanal media sosial kampus.</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B254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37160"/>
          </a:xfrm>
          <a:prstGeom prst="rect">
            <a:avLst/>
          </a:prstGeom>
          <a:solidFill>
            <a:srgbClr val="FFB70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media_1789460385233.png"/>
          <p:cNvPicPr>
            <a:picLocks noChangeAspect="1"/>
          </p:cNvPicPr>
          <p:nvPr/>
        </p:nvPicPr>
        <p:blipFill>
          <a:blip r:embed="rId2"/>
          <a:stretch>
            <a:fillRect/>
          </a:stretch>
        </p:blipFill>
        <p:spPr>
          <a:xfrm>
            <a:off x="4389120" y="731520"/>
            <a:ext cx="951548" cy="1097280"/>
          </a:xfrm>
          <a:prstGeom prst="rect">
            <a:avLst/>
          </a:prstGeom>
        </p:spPr>
      </p:pic>
      <p:pic>
        <p:nvPicPr>
          <p:cNvPr id="5" name="Picture 4" descr="media_1789460385231.png"/>
          <p:cNvPicPr>
            <a:picLocks noChangeAspect="1"/>
          </p:cNvPicPr>
          <p:nvPr/>
        </p:nvPicPr>
        <p:blipFill>
          <a:blip r:embed="rId3"/>
          <a:stretch>
            <a:fillRect/>
          </a:stretch>
        </p:blipFill>
        <p:spPr>
          <a:xfrm>
            <a:off x="5669280" y="868680"/>
            <a:ext cx="1235647" cy="822960"/>
          </a:xfrm>
          <a:prstGeom prst="rect">
            <a:avLst/>
          </a:prstGeom>
        </p:spPr>
      </p:pic>
      <p:pic>
        <p:nvPicPr>
          <p:cNvPr id="6" name="Picture 5" descr="media_1789460385272.png"/>
          <p:cNvPicPr>
            <a:picLocks noChangeAspect="1"/>
          </p:cNvPicPr>
          <p:nvPr/>
        </p:nvPicPr>
        <p:blipFill>
          <a:blip r:embed="rId4"/>
          <a:stretch>
            <a:fillRect/>
          </a:stretch>
        </p:blipFill>
        <p:spPr>
          <a:xfrm>
            <a:off x="7315200" y="731520"/>
            <a:ext cx="1096208" cy="1097280"/>
          </a:xfrm>
          <a:prstGeom prst="rect">
            <a:avLst/>
          </a:prstGeom>
        </p:spPr>
      </p:pic>
      <p:sp>
        <p:nvSpPr>
          <p:cNvPr id="7" name="TextBox 6"/>
          <p:cNvSpPr txBox="1"/>
          <p:nvPr/>
        </p:nvSpPr>
        <p:spPr>
          <a:xfrm>
            <a:off x="1371600" y="2103120"/>
            <a:ext cx="9448495" cy="2011680"/>
          </a:xfrm>
          <a:prstGeom prst="rect">
            <a:avLst/>
          </a:prstGeom>
          <a:noFill/>
        </p:spPr>
        <p:txBody>
          <a:bodyPr wrap="square">
            <a:spAutoFit/>
          </a:bodyPr>
          <a:lstStyle/>
          <a:p>
            <a:pPr algn="ctr">
              <a:defRPr sz="4400" b="1">
                <a:solidFill>
                  <a:srgbClr val="FFFFFF"/>
                </a:solidFill>
                <a:latin typeface="Segoe UI"/>
              </a:defRPr>
            </a:pPr>
            <a:r>
              <a:t>TERIMA KASIH</a:t>
            </a:r>
          </a:p>
          <a:p>
            <a:pPr algn="ctr">
              <a:spcBef>
                <a:spcPts val="800"/>
              </a:spcBef>
              <a:defRPr sz="1600" b="1">
                <a:solidFill>
                  <a:srgbClr val="FFB703"/>
                </a:solidFill>
                <a:latin typeface="Segoe UI"/>
              </a:defRPr>
            </a:pPr>
            <a:r>
              <a:t>PPID PELAKSANA UPT POLITEKNIK KESELAMATAN TRANSPORTASI JALAN (PKTJ) TEGAL</a:t>
            </a:r>
          </a:p>
          <a:p>
            <a:pPr algn="ctr">
              <a:spcBef>
                <a:spcPts val="800"/>
              </a:spcBef>
              <a:defRPr sz="1300">
                <a:solidFill>
                  <a:srgbClr val="CBD5E1"/>
                </a:solidFill>
                <a:latin typeface="Segoe UI"/>
              </a:defRPr>
            </a:pPr>
            <a:r>
              <a:t>Mewujudkan Keterbukaan Informasi Publik yang Transparan, Akuntabel, dan Berintegritas</a:t>
            </a:r>
            <a:br/>
            <a:r>
              <a:t>Menuju Badan Publik Berpredikat INFORMATIF</a:t>
            </a:r>
          </a:p>
        </p:txBody>
      </p:sp>
      <p:sp>
        <p:nvSpPr>
          <p:cNvPr id="8" name="Rounded Rectangle 7"/>
          <p:cNvSpPr/>
          <p:nvPr/>
        </p:nvSpPr>
        <p:spPr>
          <a:xfrm>
            <a:off x="1371600" y="4389120"/>
            <a:ext cx="9448495" cy="1828800"/>
          </a:xfrm>
          <a:prstGeom prst="roundRect">
            <a:avLst/>
          </a:prstGeom>
          <a:solidFill>
            <a:srgbClr val="132E58"/>
          </a:solidFill>
          <a:ln w="19050">
            <a:solidFill>
              <a:srgbClr val="0284C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645920" y="4526280"/>
            <a:ext cx="8961120" cy="1554480"/>
          </a:xfrm>
          <a:prstGeom prst="rect">
            <a:avLst/>
          </a:prstGeom>
          <a:noFill/>
        </p:spPr>
        <p:txBody>
          <a:bodyPr wrap="square">
            <a:spAutoFit/>
          </a:bodyPr>
          <a:lstStyle/>
          <a:p>
            <a:pPr>
              <a:defRPr sz="1100" b="1">
                <a:solidFill>
                  <a:srgbClr val="FFFFFF"/>
                </a:solidFill>
              </a:defRPr>
            </a:pPr>
            <a:r>
              <a:t>📍 KAMPUS 1: Jl. Perintis Kemerdekaan, Slerok, Kota Tegal, Jawa Tengah 52125</a:t>
            </a:r>
          </a:p>
          <a:p>
            <a:pPr>
              <a:spcBef>
                <a:spcPts val="400"/>
              </a:spcBef>
              <a:defRPr sz="1100" b="1">
                <a:solidFill>
                  <a:srgbClr val="FFB703"/>
                </a:solidFill>
              </a:defRPr>
            </a:pPr>
            <a:r>
              <a:t>📍 KAMPUS 2 (MEJA LAYANAN PPID): Jl. KH. Abdul Syukur No. 17, Margadana, Kota Tegal 52143</a:t>
            </a:r>
          </a:p>
          <a:p>
            <a:pPr>
              <a:spcBef>
                <a:spcPts val="400"/>
              </a:spcBef>
              <a:defRPr sz="1100">
                <a:solidFill>
                  <a:srgbClr val="E2E8F0"/>
                </a:solidFill>
              </a:defRPr>
            </a:pPr>
            <a:r>
              <a:t>🌐 Website: https://ppid.pktj.ac.id | 📧 Email: ppid@pktj.ac.id | ☎ Telp: (0283) 351061 | Fax: (0283) 358965</a:t>
            </a:r>
          </a:p>
          <a:p>
            <a:pPr algn="ctr">
              <a:spcBef>
                <a:spcPts val="600"/>
              </a:spcBef>
              <a:defRPr sz="950">
                <a:solidFill>
                  <a:srgbClr val="0284C7"/>
                </a:solidFill>
              </a:defRPr>
            </a:pPr>
            <a:r>
              <a:t>Salam PROPRESTASI: Problem solver • Responsive • Oriented to goal • Profesional • Reform • Ethic • Sustainable • Transform • Attitude • Sinergy • Integrity</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